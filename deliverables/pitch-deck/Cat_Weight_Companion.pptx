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Cat Weight Companion is a white-label iOS application designed specifically for pet food brands. We give you a branded customer engagement tool that creates ongoing touchpoints after purchase. This happens without exposing your brand to medical liability, data privacy risks, or scope creep. Today I'll walk you through the problem we solve, how the product works, and most importantly, what we deliberately chose NOT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reality for pet food brands today. Your customer picks up a bag, takes it home, and you never hear from them again. You have no idea if they're using it correctly, if their cat is responding well, or if they're about to switch to a competitor. The competitor is literally one aisle away. There's no engagement, no data, and no proof that your weight management formula actually works. This is a $40 billion market with almost zero post-purchase customer relationship. Let's look at how we solve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elegantly simple. A QR code on your packaging links to a fully branded iOS app. The customer scans, the app opens with your branding, and they can start tracking their cat's weight immediately. You get aggregate engagement data—not individual health data—that proves customers are using your product and staying engaged. It's a closed loop that benefits everyone. And it's incredibly easy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onboarding experience takes 90 seconds. A customer scans the QR code—that's 5 seconds. They see your brand splash screen—10 seconds. Quick setup asks for the cat's name and starting weight—30 seconds. The first weight entry takes 45 seconds. That's it. No account creation, no email capture, no password. We deliberately removed every friction point because we know that every additional step loses 20-30% of users. This is designed for completion, not data harvesting. And it's all about your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app. Your brand name appears throughout. Your colors define the interface. Your product name and specific calorie data are pre-loaded. When a customer uses this app, they're engaging with YOUR brand, not ours. We're invisible. We handle the development, maintenance, and updates. You own the customer relationship and the brand experience. That's the white-label promise. Now, let's talk about the data you do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you gain: clear engagement metrics that prove your customers are using your product. These metrics give you real insight into post-purchase behavior without crossing into medical territory. Total QR activations show initial interest, and our 78.4% setup completion rate is well above industry averages. We also track average opens per week and users with three or more entries, which indicates sustained usage and loyalty. And the average progress bucket gives you anonymized, aggregated outcome data, proving product stickiness. But what's equally important is what we deliberately don't measure, and that's our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discussed what you do get to see. Now, let's talk about what we deliberately don't measure, and why this is crucial for your brand. We avoid capturing actual weight values because that's medical data with significant liability implications. We also don't track individual customer journeys, which protects privacy and avoids data risks. And we never measure feeding compliance, which removes any blame if outcomes are poor. The key message here is simple: we cannot tell you if your food worked for any specific cat, and that's by design. This brings us to our zero liability design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zero liability design is a core differentiator, built to protect your brand at every turn. We never use "recommended" language or make outcome promises. The app provides no feeding instructions and makes no medical claims whatsoever. Crucially, no data ever leaves the device, eliminating a major source of risk. We even built in safety guardrails, capping weight loss at 2% per week and 30% total. This protects both the cat and your brand from potential misuse or misinterpretation. This strict approach extends to our product scope, which is intentionally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scope is frozen, and this is a deliberate strategic choice, not a limitation. We will never build user accounts, eliminating data breach risks. There are no push notifications, so no spam complaints. No cloud sync means no server costs or security audits. We also avoid features like multiple cats, vet integration, food ordering, social features, or widgets. This isn't a roadmap; it's a deliverable. When we say no to additional features, we're saying yes to simplicity, stability, and zero liability. And this commitment to simplicity is deeply tied to how we handle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what we don't measure and why our scope is frozen. Now, let's look at the ultimate risk mitigation: data stays on the device. This architecture means zero data ever leaves the customer's phone. It's never transmitted to any server, not ours, not yours, not anyone's. This eliminates server maintenance, breach risks, and all GDPR compliance headaches. When the customer deletes the app, the data is gone. This is privacy by design, not just by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communicate all this value and simplicity to your customers? It's with this one-liner on your packaging. Just eleven words: "Scan this to track your cat's weight with the food you just bought." It's clear, actionable, and directly links the app to the product. There are no health claims, no promises, and no liability. It's a simple value proposition that customers immediately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we get this into your hands. Here's the path forward. First, your legal team reviews our liability architecture—we're confident it will pass scrutiny. Then we integrate your branding: colors, logos, and product calorie data. We generate unique QR codes for your SKUs. You run a pilot in a limited market to validate engagement metrics. Then we move to full rollout. The entire process from legal review to pilot can happen in 8 to 12 weeks. We're ready when you are. Do you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428750"/>
            <a:ext cx="4190981" cy="1285875"/>
          </a:xfrm>
          <a:prstGeom prst="rect">
            <a:avLst/>
          </a:prstGeom>
          <a:noFill/>
          <a:ln/>
        </p:spPr>
        <p:txBody>
          <a:bodyPr wrap="square" lIns="0" tIns="0" rIns="0" bIns="0" rtlCol="0" anchor="t">
            <a:spAutoFit/>
          </a:bodyPr>
          <a:lstStyle/>
          <a:p>
            <a:pPr algn="l" indent="0" marL="0">
              <a:lnSpc>
                <a:spcPts val="5100"/>
              </a:lnSpc>
              <a:buNone/>
            </a:pPr>
            <a:r>
              <a:rPr lang="en-US" sz="3731" b="1" spc="-1" kern="0" dirty="0">
                <a:solidFill>
                  <a:srgbClr val="FFFFFF"/>
                </a:solidFill>
              </a:rPr>
              <a:t>CAT WEIGHT</a:t>
            </a:r>
            <a:pPr algn="l" indent="0" marL="0">
              <a:lnSpc>
                <a:spcPts val="5100"/>
              </a:lnSpc>
              <a:buNone/>
            </a:pPr>
            <a:r>
              <a:rPr lang="en-US" sz="3731" b="1" spc="-1" kern="0" dirty="0">
                <a:solidFill>
                  <a:srgbClr val="FFFFFF"/>
                </a:solidFill>
              </a:rPr>
              <a:t>
</a:t>
            </a:r>
            <a:pPr algn="l" indent="0" marL="0">
              <a:lnSpc>
                <a:spcPts val="5100"/>
              </a:lnSpc>
              <a:buNone/>
            </a:pPr>
            <a:r>
              <a:rPr lang="en-US" sz="3731" b="1" spc="-1" kern="0" dirty="0">
                <a:solidFill>
                  <a:srgbClr val="FFFFFF"/>
                </a:solidFill>
              </a:rPr>
              <a:t>COMPANION</a:t>
            </a:r>
            <a:endParaRPr lang="en-US" sz="3731" dirty="0"/>
          </a:p>
        </p:txBody>
      </p:sp>
      <p:sp>
        <p:nvSpPr>
          <p:cNvPr id="5" name="Text 1"/>
          <p:cNvSpPr/>
          <p:nvPr/>
        </p:nvSpPr>
        <p:spPr>
          <a:xfrm>
            <a:off x="571500" y="2828925"/>
            <a:ext cx="4190981" cy="257175"/>
          </a:xfrm>
          <a:prstGeom prst="rect">
            <a:avLst/>
          </a:prstGeom>
          <a:noFill/>
          <a:ln/>
        </p:spPr>
        <p:txBody>
          <a:bodyPr wrap="none" lIns="0" tIns="0" rIns="0" bIns="0" rtlCol="0" anchor="t">
            <a:spAutoFit/>
          </a:bodyPr>
          <a:lstStyle/>
          <a:p>
            <a:pPr algn="l" indent="0" marL="0">
              <a:lnSpc>
                <a:spcPts val="2000"/>
              </a:lnSpc>
              <a:buNone/>
            </a:pPr>
            <a:r>
              <a:rPr lang="en-US" sz="1595" spc="1" kern="0" dirty="0">
                <a:solidFill>
                  <a:srgbClr val="CBD5E1"/>
                </a:solidFill>
              </a:rPr>
              <a:t>White-Label App for Pet Food Brands</a:t>
            </a:r>
            <a:endParaRPr lang="en-US" sz="1595" dirty="0"/>
          </a:p>
        </p:txBody>
      </p:sp>
      <p:sp>
        <p:nvSpPr>
          <p:cNvPr id="6" name="Text 2"/>
          <p:cNvSpPr/>
          <p:nvPr/>
        </p:nvSpPr>
        <p:spPr>
          <a:xfrm>
            <a:off x="771525" y="3714750"/>
            <a:ext cx="3990956" cy="228600"/>
          </a:xfrm>
          <a:prstGeom prst="rect">
            <a:avLst/>
          </a:prstGeom>
          <a:noFill/>
          <a:ln/>
        </p:spPr>
        <p:txBody>
          <a:bodyPr wrap="none" lIns="0" tIns="0" rIns="0" bIns="0" rtlCol="0" anchor="t">
            <a:spAutoFit/>
          </a:bodyPr>
          <a:lstStyle/>
          <a:p>
            <a:pPr algn="l" indent="0" marL="0">
              <a:lnSpc>
                <a:spcPts val="1800"/>
              </a:lnSpc>
              <a:buNone/>
            </a:pPr>
            <a:r>
              <a:rPr lang="en-US" sz="1193" b="1" i="1" dirty="0">
                <a:solidFill>
                  <a:srgbClr val="60A5FA"/>
                </a:solidFill>
              </a:rPr>
              <a:t>"Your brand. Your customers. Zero liability."</a:t>
            </a:r>
            <a:endParaRPr lang="en-US" sz="1193" dirty="0"/>
          </a:p>
        </p:txBody>
      </p:sp>
      <p:pic>
        <p:nvPicPr>
          <p:cNvPr id="7" name="Image 1" descr="preencoded.png">    </p:cNvPr>
          <p:cNvPicPr>
            <a:picLocks noChangeAspect="1"/>
          </p:cNvPicPr>
          <p:nvPr/>
        </p:nvPicPr>
        <p:blipFill>
          <a:blip r:embed="rId2">
            <a:alphaModFix amt="80000"/>
          </a:blip>
          <a:stretch>
            <a:fillRect/>
          </a:stretch>
        </p:blipFill>
        <p:spPr>
          <a:xfrm>
            <a:off x="5333981" y="0"/>
            <a:ext cx="3809991" cy="19049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The Problem</a:t>
            </a:r>
            <a:endParaRPr lang="en-US" sz="683" dirty="0"/>
          </a:p>
        </p:txBody>
      </p:sp>
      <p:sp>
        <p:nvSpPr>
          <p:cNvPr id="5" name="Text 1"/>
          <p:cNvSpPr/>
          <p:nvPr/>
        </p:nvSpPr>
        <p:spPr>
          <a:xfrm>
            <a:off x="571500" y="657225"/>
            <a:ext cx="8001000" cy="1071563"/>
          </a:xfrm>
          <a:prstGeom prst="rect">
            <a:avLst/>
          </a:prstGeom>
          <a:noFill/>
          <a:ln/>
        </p:spPr>
        <p:txBody>
          <a:bodyPr wrap="square" lIns="0" tIns="0" rIns="0" bIns="0" rtlCol="0" anchor="t">
            <a:spAutoFit/>
          </a:bodyPr>
          <a:lstStyle/>
          <a:p>
            <a:pPr algn="l" indent="0" marL="0">
              <a:lnSpc>
                <a:spcPts val="4200"/>
              </a:lnSpc>
              <a:buNone/>
            </a:pPr>
            <a:r>
              <a:rPr lang="en-US" sz="3077" b="1" dirty="0">
                <a:solidFill>
                  <a:srgbClr val="0F172A"/>
                </a:solidFill>
              </a:rPr>
              <a:t>YOUR BAG GOES HOME.</a:t>
            </a:r>
            <a:pPr algn="l" indent="0" marL="0">
              <a:lnSpc>
                <a:spcPts val="4200"/>
              </a:lnSpc>
              <a:buNone/>
            </a:pPr>
            <a:r>
              <a:rPr lang="en-US" sz="3077" b="1" dirty="0">
                <a:solidFill>
                  <a:srgbClr val="0F172A"/>
                </a:solidFill>
              </a:rPr>
              <a:t>
</a:t>
            </a:r>
            <a:pPr algn="l" indent="0" marL="0">
              <a:lnSpc>
                <a:spcPts val="4200"/>
              </a:lnSpc>
              <a:buNone/>
            </a:pPr>
            <a:r>
              <a:rPr lang="en-US" sz="3077" b="1" dirty="0">
                <a:solidFill>
                  <a:srgbClr val="94A3B8"/>
                </a:solidFill>
              </a:rPr>
              <a:t>THEN WHAT?</a:t>
            </a:r>
            <a:endParaRPr lang="en-US" sz="3077" dirty="0"/>
          </a:p>
        </p:txBody>
      </p:sp>
      <p:sp>
        <p:nvSpPr>
          <p:cNvPr id="6" name="Shape 2"/>
          <p:cNvSpPr/>
          <p:nvPr/>
        </p:nvSpPr>
        <p:spPr>
          <a:xfrm>
            <a:off x="571500" y="1900238"/>
            <a:ext cx="342900" cy="342900"/>
          </a:xfrm>
          <a:prstGeom prst="rect">
            <a:avLst/>
          </a:prstGeom>
          <a:solidFill>
            <a:srgbClr val="E2E8F0"/>
          </a:solidFill>
          <a:ln/>
        </p:spPr>
      </p:sp>
      <p:pic>
        <p:nvPicPr>
          <p:cNvPr id="7" name="Image 1" descr="preencoded.png">    </p:cNvPr>
          <p:cNvPicPr>
            <a:picLocks noChangeAspect="1"/>
          </p:cNvPicPr>
          <p:nvPr/>
        </p:nvPicPr>
        <p:blipFill>
          <a:blip r:embed="rId2"/>
          <a:stretch>
            <a:fillRect/>
          </a:stretch>
        </p:blipFill>
        <p:spPr>
          <a:xfrm>
            <a:off x="635794" y="1957388"/>
            <a:ext cx="214313" cy="228600"/>
          </a:xfrm>
          <a:prstGeom prst="rect">
            <a:avLst/>
          </a:prstGeom>
        </p:spPr>
      </p:pic>
      <p:sp>
        <p:nvSpPr>
          <p:cNvPr id="8" name="Text 3"/>
          <p:cNvSpPr/>
          <p:nvPr/>
        </p:nvSpPr>
        <p:spPr>
          <a:xfrm>
            <a:off x="1085850" y="1900238"/>
            <a:ext cx="3314700"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No engagement after purchase</a:t>
            </a:r>
            <a:endParaRPr lang="en-US" sz="1193" dirty="0"/>
          </a:p>
        </p:txBody>
      </p:sp>
      <p:sp>
        <p:nvSpPr>
          <p:cNvPr id="9" name="Text 4"/>
          <p:cNvSpPr/>
          <p:nvPr/>
        </p:nvSpPr>
        <p:spPr>
          <a:xfrm>
            <a:off x="1085850" y="2157413"/>
            <a:ext cx="3314700" cy="400050"/>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75569"/>
                </a:solidFill>
              </a:rPr>
              <a:t>Customer relationship ends the moment they leave the checkout counter.</a:t>
            </a:r>
            <a:endParaRPr lang="en-US" sz="942" dirty="0"/>
          </a:p>
        </p:txBody>
      </p:sp>
      <p:sp>
        <p:nvSpPr>
          <p:cNvPr id="10" name="Shape 5"/>
          <p:cNvSpPr/>
          <p:nvPr/>
        </p:nvSpPr>
        <p:spPr>
          <a:xfrm>
            <a:off x="571500" y="2671763"/>
            <a:ext cx="342900" cy="342900"/>
          </a:xfrm>
          <a:prstGeom prst="rect">
            <a:avLst/>
          </a:prstGeom>
          <a:solidFill>
            <a:srgbClr val="E2E8F0"/>
          </a:solidFill>
          <a:ln/>
        </p:spPr>
      </p:sp>
      <p:pic>
        <p:nvPicPr>
          <p:cNvPr id="11" name="Image 2" descr="preencoded.png">    </p:cNvPr>
          <p:cNvPicPr>
            <a:picLocks noChangeAspect="1"/>
          </p:cNvPicPr>
          <p:nvPr/>
        </p:nvPicPr>
        <p:blipFill>
          <a:blip r:embed="rId3"/>
          <a:stretch>
            <a:fillRect/>
          </a:stretch>
        </p:blipFill>
        <p:spPr>
          <a:xfrm>
            <a:off x="646509" y="2728913"/>
            <a:ext cx="192881" cy="228600"/>
          </a:xfrm>
          <a:prstGeom prst="rect">
            <a:avLst/>
          </a:prstGeom>
        </p:spPr>
      </p:pic>
      <p:sp>
        <p:nvSpPr>
          <p:cNvPr id="12" name="Text 6"/>
          <p:cNvSpPr/>
          <p:nvPr/>
        </p:nvSpPr>
        <p:spPr>
          <a:xfrm>
            <a:off x="1085850" y="2671763"/>
            <a:ext cx="3314700"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No data on usage</a:t>
            </a:r>
            <a:endParaRPr lang="en-US" sz="1193" dirty="0"/>
          </a:p>
        </p:txBody>
      </p:sp>
      <p:sp>
        <p:nvSpPr>
          <p:cNvPr id="13" name="Text 7"/>
          <p:cNvSpPr/>
          <p:nvPr/>
        </p:nvSpPr>
        <p:spPr>
          <a:xfrm>
            <a:off x="1085850" y="2928938"/>
            <a:ext cx="3314700" cy="400050"/>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75569"/>
                </a:solidFill>
              </a:rPr>
              <a:t>You don't know if they finish the bag, feed correctly, or switch brands.</a:t>
            </a:r>
            <a:endParaRPr lang="en-US" sz="942" dirty="0"/>
          </a:p>
        </p:txBody>
      </p:sp>
      <p:sp>
        <p:nvSpPr>
          <p:cNvPr id="14" name="Shape 8"/>
          <p:cNvSpPr/>
          <p:nvPr/>
        </p:nvSpPr>
        <p:spPr>
          <a:xfrm>
            <a:off x="571500" y="3443288"/>
            <a:ext cx="342900" cy="342900"/>
          </a:xfrm>
          <a:prstGeom prst="rect">
            <a:avLst/>
          </a:prstGeom>
          <a:solidFill>
            <a:srgbClr val="E2E8F0"/>
          </a:solidFill>
          <a:ln/>
        </p:spPr>
      </p:sp>
      <p:pic>
        <p:nvPicPr>
          <p:cNvPr id="15" name="Image 3" descr="preencoded.png">    </p:cNvPr>
          <p:cNvPicPr>
            <a:picLocks noChangeAspect="1"/>
          </p:cNvPicPr>
          <p:nvPr/>
        </p:nvPicPr>
        <p:blipFill>
          <a:blip r:embed="rId4"/>
          <a:stretch>
            <a:fillRect/>
          </a:stretch>
        </p:blipFill>
        <p:spPr>
          <a:xfrm>
            <a:off x="667941" y="3500438"/>
            <a:ext cx="150019" cy="228600"/>
          </a:xfrm>
          <a:prstGeom prst="rect">
            <a:avLst/>
          </a:prstGeom>
        </p:spPr>
      </p:pic>
      <p:sp>
        <p:nvSpPr>
          <p:cNvPr id="16" name="Text 9"/>
          <p:cNvSpPr/>
          <p:nvPr/>
        </p:nvSpPr>
        <p:spPr>
          <a:xfrm>
            <a:off x="1085850" y="3443288"/>
            <a:ext cx="3314700"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No proof food works</a:t>
            </a:r>
            <a:endParaRPr lang="en-US" sz="1193" dirty="0"/>
          </a:p>
        </p:txBody>
      </p:sp>
      <p:sp>
        <p:nvSpPr>
          <p:cNvPr id="17" name="Text 10"/>
          <p:cNvSpPr/>
          <p:nvPr/>
        </p:nvSpPr>
        <p:spPr>
          <a:xfrm>
            <a:off x="1085850" y="3700463"/>
            <a:ext cx="3314700" cy="400050"/>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75569"/>
                </a:solidFill>
              </a:rPr>
              <a:t>Weight management claims remain unverified marketing promises.</a:t>
            </a:r>
            <a:endParaRPr lang="en-US" sz="942" dirty="0"/>
          </a:p>
        </p:txBody>
      </p:sp>
      <p:sp>
        <p:nvSpPr>
          <p:cNvPr id="18" name="Shape 11"/>
          <p:cNvSpPr/>
          <p:nvPr/>
        </p:nvSpPr>
        <p:spPr>
          <a:xfrm>
            <a:off x="571500" y="4214813"/>
            <a:ext cx="342900" cy="342900"/>
          </a:xfrm>
          <a:prstGeom prst="rect">
            <a:avLst/>
          </a:prstGeom>
          <a:solidFill>
            <a:srgbClr val="E2E8F0"/>
          </a:solidFill>
          <a:ln/>
        </p:spPr>
      </p:sp>
      <p:pic>
        <p:nvPicPr>
          <p:cNvPr id="19" name="Image 4" descr="preencoded.png">    </p:cNvPr>
          <p:cNvPicPr>
            <a:picLocks noChangeAspect="1"/>
          </p:cNvPicPr>
          <p:nvPr/>
        </p:nvPicPr>
        <p:blipFill>
          <a:blip r:embed="rId5"/>
          <a:stretch>
            <a:fillRect/>
          </a:stretch>
        </p:blipFill>
        <p:spPr>
          <a:xfrm>
            <a:off x="646509" y="4271963"/>
            <a:ext cx="192881" cy="228600"/>
          </a:xfrm>
          <a:prstGeom prst="rect">
            <a:avLst/>
          </a:prstGeom>
        </p:spPr>
      </p:pic>
      <p:sp>
        <p:nvSpPr>
          <p:cNvPr id="20" name="Text 12"/>
          <p:cNvSpPr/>
          <p:nvPr/>
        </p:nvSpPr>
        <p:spPr>
          <a:xfrm>
            <a:off x="1085850" y="4214813"/>
            <a:ext cx="3314700"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Competitor one aisle away</a:t>
            </a:r>
            <a:endParaRPr lang="en-US" sz="1193" dirty="0"/>
          </a:p>
        </p:txBody>
      </p:sp>
      <p:sp>
        <p:nvSpPr>
          <p:cNvPr id="21" name="Text 13"/>
          <p:cNvSpPr/>
          <p:nvPr/>
        </p:nvSpPr>
        <p:spPr>
          <a:xfrm>
            <a:off x="1085850" y="4471988"/>
            <a:ext cx="3314700" cy="400050"/>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475569"/>
                </a:solidFill>
              </a:rPr>
              <a:t>Zero switching cost and zero loyalty mechanism to keep them.</a:t>
            </a:r>
            <a:endParaRPr lang="en-US" sz="942" dirty="0"/>
          </a:p>
        </p:txBody>
      </p:sp>
      <p:pic>
        <p:nvPicPr>
          <p:cNvPr id="22" name="Image 5" descr="preencoded.png">    </p:cNvPr>
          <p:cNvPicPr>
            <a:picLocks noChangeAspect="1"/>
          </p:cNvPicPr>
          <p:nvPr/>
        </p:nvPicPr>
        <p:blipFill>
          <a:blip r:embed="rId6"/>
          <a:stretch>
            <a:fillRect/>
          </a:stretch>
        </p:blipFill>
        <p:spPr>
          <a:xfrm>
            <a:off x="5057775" y="2155627"/>
            <a:ext cx="3200400" cy="24610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The Solution</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QR CODE </a:t>
            </a:r>
            <a:pPr algn="l" indent="0" marL="0">
              <a:lnSpc>
                <a:spcPts val="4200"/>
              </a:lnSpc>
              <a:buNone/>
            </a:pPr>
            <a:r>
              <a:rPr lang="en-US" sz="3077" b="1" dirty="0">
                <a:solidFill>
                  <a:srgbClr val="2563EB"/>
                </a:solidFill>
              </a:rPr>
              <a:t>→</a:t>
            </a:r>
            <a:pPr algn="l" indent="0" marL="0">
              <a:lnSpc>
                <a:spcPts val="4200"/>
              </a:lnSpc>
              <a:buNone/>
            </a:pPr>
            <a:r>
              <a:rPr lang="en-US" sz="3077" b="1" dirty="0">
                <a:solidFill>
                  <a:srgbClr val="0F172A"/>
                </a:solidFill>
              </a:rPr>
              <a:t> BRANDED APP </a:t>
            </a:r>
            <a:pPr algn="l" indent="0" marL="0">
              <a:lnSpc>
                <a:spcPts val="4200"/>
              </a:lnSpc>
              <a:buNone/>
            </a:pPr>
            <a:r>
              <a:rPr lang="en-US" sz="3077" b="1" dirty="0">
                <a:solidFill>
                  <a:srgbClr val="2563EB"/>
                </a:solidFill>
              </a:rPr>
              <a:t>→</a:t>
            </a:r>
            <a:pPr algn="l" indent="0" marL="0">
              <a:lnSpc>
                <a:spcPts val="4200"/>
              </a:lnSpc>
              <a:buNone/>
            </a:pPr>
            <a:r>
              <a:rPr lang="en-US" sz="3077" b="1" dirty="0">
                <a:solidFill>
                  <a:srgbClr val="0F172A"/>
                </a:solidFill>
              </a:rPr>
              <a:t> DATA</a:t>
            </a:r>
            <a:endParaRPr lang="en-US" sz="3077" dirty="0"/>
          </a:p>
        </p:txBody>
      </p:sp>
      <p:sp>
        <p:nvSpPr>
          <p:cNvPr id="6" name="Shape 2"/>
          <p:cNvSpPr/>
          <p:nvPr/>
        </p:nvSpPr>
        <p:spPr>
          <a:xfrm>
            <a:off x="571500" y="1800225"/>
            <a:ext cx="2407444" cy="2443163"/>
          </a:xfrm>
          <a:prstGeom prst="rect">
            <a:avLst/>
          </a:prstGeom>
          <a:solidFill>
            <a:srgbClr val="FFFFFF">
              <a:alpha val="50000"/>
            </a:srgbClr>
          </a:solidFill>
          <a:ln w="9144">
            <a:solidFill>
              <a:srgbClr val="E2E8F0"/>
            </a:solidFill>
            <a:prstDash val="solid"/>
          </a:ln>
        </p:spPr>
      </p:sp>
      <p:pic>
        <p:nvPicPr>
          <p:cNvPr id="7" name="Image 1" descr="preencoded.png">    </p:cNvPr>
          <p:cNvPicPr>
            <a:picLocks noChangeAspect="1"/>
          </p:cNvPicPr>
          <p:nvPr/>
        </p:nvPicPr>
        <p:blipFill>
          <a:blip r:embed="rId2"/>
          <a:stretch>
            <a:fillRect/>
          </a:stretch>
        </p:blipFill>
        <p:spPr>
          <a:xfrm>
            <a:off x="1088864" y="2035969"/>
            <a:ext cx="1371600" cy="1371600"/>
          </a:xfrm>
          <a:prstGeom prst="rect">
            <a:avLst/>
          </a:prstGeom>
        </p:spPr>
      </p:pic>
      <p:sp>
        <p:nvSpPr>
          <p:cNvPr id="8" name="Text 3"/>
          <p:cNvSpPr/>
          <p:nvPr/>
        </p:nvSpPr>
        <p:spPr>
          <a:xfrm>
            <a:off x="1394985" y="3579019"/>
            <a:ext cx="759358"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QR CODE</a:t>
            </a:r>
            <a:endParaRPr lang="en-US" sz="1193" dirty="0"/>
          </a:p>
        </p:txBody>
      </p:sp>
      <p:sp>
        <p:nvSpPr>
          <p:cNvPr id="9" name="Text 4"/>
          <p:cNvSpPr/>
          <p:nvPr/>
        </p:nvSpPr>
        <p:spPr>
          <a:xfrm>
            <a:off x="1345676" y="3836194"/>
            <a:ext cx="857948"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64748B"/>
                </a:solidFill>
              </a:rPr>
              <a:t>On product bag</a:t>
            </a:r>
            <a:endParaRPr lang="en-US" sz="784" dirty="0"/>
          </a:p>
        </p:txBody>
      </p:sp>
      <p:pic>
        <p:nvPicPr>
          <p:cNvPr id="10" name="Image 2" descr="preencoded.png">    </p:cNvPr>
          <p:cNvPicPr>
            <a:picLocks noChangeAspect="1"/>
          </p:cNvPicPr>
          <p:nvPr/>
        </p:nvPicPr>
        <p:blipFill>
          <a:blip r:embed="rId3"/>
          <a:stretch>
            <a:fillRect/>
          </a:stretch>
        </p:blipFill>
        <p:spPr>
          <a:xfrm>
            <a:off x="2977828" y="2895005"/>
            <a:ext cx="160734" cy="257175"/>
          </a:xfrm>
          <a:prstGeom prst="rect">
            <a:avLst/>
          </a:prstGeom>
        </p:spPr>
      </p:pic>
      <p:sp>
        <p:nvSpPr>
          <p:cNvPr id="11" name="Shape 5"/>
          <p:cNvSpPr/>
          <p:nvPr/>
        </p:nvSpPr>
        <p:spPr>
          <a:xfrm>
            <a:off x="3367162" y="1800225"/>
            <a:ext cx="2408002" cy="2443163"/>
          </a:xfrm>
          <a:prstGeom prst="rect">
            <a:avLst/>
          </a:prstGeom>
          <a:solidFill>
            <a:srgbClr val="FFFFFF">
              <a:alpha val="50000"/>
            </a:srgbClr>
          </a:solidFill>
          <a:ln w="9144">
            <a:solidFill>
              <a:srgbClr val="E2E8F0"/>
            </a:solidFill>
            <a:prstDash val="solid"/>
          </a:ln>
        </p:spPr>
      </p:sp>
      <p:pic>
        <p:nvPicPr>
          <p:cNvPr id="12" name="Image 3" descr="preencoded.png">    </p:cNvPr>
          <p:cNvPicPr>
            <a:picLocks noChangeAspect="1"/>
          </p:cNvPicPr>
          <p:nvPr/>
        </p:nvPicPr>
        <p:blipFill>
          <a:blip r:embed="rId4"/>
          <a:stretch>
            <a:fillRect/>
          </a:stretch>
        </p:blipFill>
        <p:spPr>
          <a:xfrm>
            <a:off x="3596320" y="2035969"/>
            <a:ext cx="1949686" cy="1371600"/>
          </a:xfrm>
          <a:prstGeom prst="rect">
            <a:avLst/>
          </a:prstGeom>
        </p:spPr>
      </p:pic>
      <p:sp>
        <p:nvSpPr>
          <p:cNvPr id="13" name="Text 6"/>
          <p:cNvSpPr/>
          <p:nvPr/>
        </p:nvSpPr>
        <p:spPr>
          <a:xfrm>
            <a:off x="3964139" y="3579019"/>
            <a:ext cx="1214047"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BRANDED APP</a:t>
            </a:r>
            <a:endParaRPr lang="en-US" sz="1193" dirty="0"/>
          </a:p>
        </p:txBody>
      </p:sp>
      <p:sp>
        <p:nvSpPr>
          <p:cNvPr id="14" name="Text 7"/>
          <p:cNvSpPr/>
          <p:nvPr/>
        </p:nvSpPr>
        <p:spPr>
          <a:xfrm>
            <a:off x="4071826" y="3836194"/>
            <a:ext cx="99864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64748B"/>
                </a:solidFill>
              </a:rPr>
              <a:t>Customer's phone</a:t>
            </a:r>
            <a:endParaRPr lang="en-US" sz="784" dirty="0"/>
          </a:p>
        </p:txBody>
      </p:sp>
      <p:pic>
        <p:nvPicPr>
          <p:cNvPr id="15" name="Image 4" descr="preencoded.png">    </p:cNvPr>
          <p:cNvPicPr>
            <a:picLocks noChangeAspect="1"/>
          </p:cNvPicPr>
          <p:nvPr/>
        </p:nvPicPr>
        <p:blipFill>
          <a:blip r:embed="rId5"/>
          <a:stretch>
            <a:fillRect/>
          </a:stretch>
        </p:blipFill>
        <p:spPr>
          <a:xfrm>
            <a:off x="6003206" y="2895005"/>
            <a:ext cx="160734" cy="257175"/>
          </a:xfrm>
          <a:prstGeom prst="rect">
            <a:avLst/>
          </a:prstGeom>
        </p:spPr>
      </p:pic>
      <p:sp>
        <p:nvSpPr>
          <p:cNvPr id="16" name="Shape 8"/>
          <p:cNvSpPr/>
          <p:nvPr/>
        </p:nvSpPr>
        <p:spPr>
          <a:xfrm>
            <a:off x="6163940" y="1800225"/>
            <a:ext cx="2408560" cy="2443163"/>
          </a:xfrm>
          <a:prstGeom prst="rect">
            <a:avLst/>
          </a:prstGeom>
          <a:solidFill>
            <a:srgbClr val="FFFFFF">
              <a:alpha val="50000"/>
            </a:srgbClr>
          </a:solidFill>
          <a:ln w="9144">
            <a:solidFill>
              <a:srgbClr val="E2E8F0"/>
            </a:solidFill>
            <a:prstDash val="solid"/>
          </a:ln>
        </p:spPr>
      </p:sp>
      <p:pic>
        <p:nvPicPr>
          <p:cNvPr id="17" name="Image 5" descr="preencoded.png">    </p:cNvPr>
          <p:cNvPicPr>
            <a:picLocks noChangeAspect="1"/>
          </p:cNvPicPr>
          <p:nvPr/>
        </p:nvPicPr>
        <p:blipFill>
          <a:blip r:embed="rId6"/>
          <a:stretch>
            <a:fillRect/>
          </a:stretch>
        </p:blipFill>
        <p:spPr>
          <a:xfrm>
            <a:off x="6512226" y="2035969"/>
            <a:ext cx="1713077" cy="1371600"/>
          </a:xfrm>
          <a:prstGeom prst="rect">
            <a:avLst/>
          </a:prstGeom>
        </p:spPr>
      </p:pic>
      <p:sp>
        <p:nvSpPr>
          <p:cNvPr id="18" name="Text 9"/>
          <p:cNvSpPr/>
          <p:nvPr/>
        </p:nvSpPr>
        <p:spPr>
          <a:xfrm>
            <a:off x="7151117" y="3579019"/>
            <a:ext cx="435322"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0F172A"/>
                </a:solidFill>
              </a:rPr>
              <a:t>DATA</a:t>
            </a:r>
            <a:endParaRPr lang="en-US" sz="1193" dirty="0"/>
          </a:p>
        </p:txBody>
      </p:sp>
      <p:sp>
        <p:nvSpPr>
          <p:cNvPr id="19" name="Text 10"/>
          <p:cNvSpPr/>
          <p:nvPr/>
        </p:nvSpPr>
        <p:spPr>
          <a:xfrm>
            <a:off x="6851275" y="3836194"/>
            <a:ext cx="1035007"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64748B"/>
                </a:solidFill>
              </a:rPr>
              <a:t>Aggregate insights</a:t>
            </a:r>
            <a:endParaRPr lang="en-US" sz="784" dirty="0"/>
          </a:p>
        </p:txBody>
      </p:sp>
      <p:sp>
        <p:nvSpPr>
          <p:cNvPr id="20" name="Text 11"/>
          <p:cNvSpPr/>
          <p:nvPr/>
        </p:nvSpPr>
        <p:spPr>
          <a:xfrm>
            <a:off x="571500" y="4736306"/>
            <a:ext cx="8001000" cy="200025"/>
          </a:xfrm>
          <a:prstGeom prst="rect">
            <a:avLst/>
          </a:prstGeom>
          <a:noFill/>
          <a:ln/>
        </p:spPr>
        <p:txBody>
          <a:bodyPr wrap="none" lIns="0" tIns="0" rIns="0" bIns="0" rtlCol="0" anchor="t">
            <a:spAutoFit/>
          </a:bodyPr>
          <a:lstStyle/>
          <a:p>
            <a:pPr algn="ctr" indent="0" marL="0">
              <a:lnSpc>
                <a:spcPts val="1600"/>
              </a:lnSpc>
              <a:buNone/>
            </a:pPr>
            <a:r>
              <a:rPr lang="en-US" sz="1050" i="1" dirty="0">
                <a:solidFill>
                  <a:srgbClr val="64748B"/>
                </a:solidFill>
              </a:rPr>
              <a:t>"A closed loop that benefits everyone."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User Journey</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90-SECOND EXPERIENCE</a:t>
            </a:r>
            <a:endParaRPr lang="en-US" sz="3077" dirty="0"/>
          </a:p>
        </p:txBody>
      </p:sp>
      <p:sp>
        <p:nvSpPr>
          <p:cNvPr id="6" name="Text 2"/>
          <p:cNvSpPr/>
          <p:nvPr/>
        </p:nvSpPr>
        <p:spPr>
          <a:xfrm>
            <a:off x="571500" y="1935956"/>
            <a:ext cx="629655" cy="142875"/>
          </a:xfrm>
          <a:prstGeom prst="rect">
            <a:avLst/>
          </a:prstGeom>
          <a:noFill/>
          <a:ln/>
        </p:spPr>
        <p:txBody>
          <a:bodyPr wrap="none" lIns="0" tIns="0" rIns="0" bIns="0" rtlCol="0" anchor="t">
            <a:spAutoFit/>
          </a:bodyPr>
          <a:lstStyle/>
          <a:p>
            <a:pPr algn="ctr" indent="0" marL="0">
              <a:lnSpc>
                <a:spcPts val="1100"/>
              </a:lnSpc>
              <a:buNone/>
            </a:pPr>
            <a:r>
              <a:rPr lang="en-US" sz="683" b="1" dirty="0">
                <a:solidFill>
                  <a:srgbClr val="2563EB"/>
                </a:solidFill>
              </a:rPr>
              <a:t>0:05</a:t>
            </a:r>
            <a:endParaRPr lang="en-US" sz="683" dirty="0"/>
          </a:p>
        </p:txBody>
      </p:sp>
      <p:sp>
        <p:nvSpPr>
          <p:cNvPr id="7" name="Text 3"/>
          <p:cNvSpPr/>
          <p:nvPr/>
        </p:nvSpPr>
        <p:spPr>
          <a:xfrm>
            <a:off x="571500" y="2107406"/>
            <a:ext cx="629655" cy="200025"/>
          </a:xfrm>
          <a:prstGeom prst="rect">
            <a:avLst/>
          </a:prstGeom>
          <a:noFill/>
          <a:ln/>
        </p:spPr>
        <p:txBody>
          <a:bodyPr wrap="none" lIns="0" tIns="0" rIns="0" bIns="0" rtlCol="0" anchor="t">
            <a:spAutoFit/>
          </a:bodyPr>
          <a:lstStyle/>
          <a:p>
            <a:pPr algn="ctr" indent="0" marL="0">
              <a:lnSpc>
                <a:spcPts val="1600"/>
              </a:lnSpc>
              <a:buNone/>
            </a:pPr>
            <a:r>
              <a:rPr lang="en-US" sz="987" b="1" dirty="0">
                <a:solidFill>
                  <a:srgbClr val="0F172A"/>
                </a:solidFill>
              </a:rPr>
              <a:t>SCAN QR</a:t>
            </a:r>
            <a:endParaRPr lang="en-US" sz="987" dirty="0"/>
          </a:p>
        </p:txBody>
      </p:sp>
      <p:sp>
        <p:nvSpPr>
          <p:cNvPr id="8" name="Text 4"/>
          <p:cNvSpPr/>
          <p:nvPr/>
        </p:nvSpPr>
        <p:spPr>
          <a:xfrm>
            <a:off x="2628816" y="1935956"/>
            <a:ext cx="1083729" cy="142875"/>
          </a:xfrm>
          <a:prstGeom prst="rect">
            <a:avLst/>
          </a:prstGeom>
          <a:noFill/>
          <a:ln/>
        </p:spPr>
        <p:txBody>
          <a:bodyPr wrap="none" lIns="0" tIns="0" rIns="0" bIns="0" rtlCol="0" anchor="t">
            <a:spAutoFit/>
          </a:bodyPr>
          <a:lstStyle/>
          <a:p>
            <a:pPr algn="ctr" indent="0" marL="0">
              <a:lnSpc>
                <a:spcPts val="1100"/>
              </a:lnSpc>
              <a:buNone/>
            </a:pPr>
            <a:r>
              <a:rPr lang="en-US" sz="683" b="1" dirty="0">
                <a:solidFill>
                  <a:srgbClr val="2563EB"/>
                </a:solidFill>
              </a:rPr>
              <a:t>0:15</a:t>
            </a:r>
            <a:endParaRPr lang="en-US" sz="683" dirty="0"/>
          </a:p>
        </p:txBody>
      </p:sp>
      <p:sp>
        <p:nvSpPr>
          <p:cNvPr id="9" name="Text 5"/>
          <p:cNvSpPr/>
          <p:nvPr/>
        </p:nvSpPr>
        <p:spPr>
          <a:xfrm>
            <a:off x="2628816" y="2107406"/>
            <a:ext cx="1083729" cy="200025"/>
          </a:xfrm>
          <a:prstGeom prst="rect">
            <a:avLst/>
          </a:prstGeom>
          <a:noFill/>
          <a:ln/>
        </p:spPr>
        <p:txBody>
          <a:bodyPr wrap="none" lIns="0" tIns="0" rIns="0" bIns="0" rtlCol="0" anchor="t">
            <a:spAutoFit/>
          </a:bodyPr>
          <a:lstStyle/>
          <a:p>
            <a:pPr algn="ctr" indent="0" marL="0">
              <a:lnSpc>
                <a:spcPts val="1600"/>
              </a:lnSpc>
              <a:buNone/>
            </a:pPr>
            <a:r>
              <a:rPr lang="en-US" sz="987" b="1" dirty="0">
                <a:solidFill>
                  <a:srgbClr val="0F172A"/>
                </a:solidFill>
              </a:rPr>
              <a:t>BRAND SPLASH</a:t>
            </a:r>
            <a:endParaRPr lang="en-US" sz="987" dirty="0"/>
          </a:p>
        </p:txBody>
      </p:sp>
      <p:sp>
        <p:nvSpPr>
          <p:cNvPr id="10" name="Text 6"/>
          <p:cNvSpPr/>
          <p:nvPr/>
        </p:nvSpPr>
        <p:spPr>
          <a:xfrm>
            <a:off x="5140207" y="1935956"/>
            <a:ext cx="939571" cy="142875"/>
          </a:xfrm>
          <a:prstGeom prst="rect">
            <a:avLst/>
          </a:prstGeom>
          <a:noFill/>
          <a:ln/>
        </p:spPr>
        <p:txBody>
          <a:bodyPr wrap="none" lIns="0" tIns="0" rIns="0" bIns="0" rtlCol="0" anchor="t">
            <a:spAutoFit/>
          </a:bodyPr>
          <a:lstStyle/>
          <a:p>
            <a:pPr algn="ctr" indent="0" marL="0">
              <a:lnSpc>
                <a:spcPts val="1100"/>
              </a:lnSpc>
              <a:buNone/>
            </a:pPr>
            <a:r>
              <a:rPr lang="en-US" sz="683" b="1" dirty="0">
                <a:solidFill>
                  <a:srgbClr val="2563EB"/>
                </a:solidFill>
              </a:rPr>
              <a:t>0:45</a:t>
            </a:r>
            <a:endParaRPr lang="en-US" sz="683" dirty="0"/>
          </a:p>
        </p:txBody>
      </p:sp>
      <p:sp>
        <p:nvSpPr>
          <p:cNvPr id="11" name="Text 7"/>
          <p:cNvSpPr/>
          <p:nvPr/>
        </p:nvSpPr>
        <p:spPr>
          <a:xfrm>
            <a:off x="5140207" y="2107406"/>
            <a:ext cx="939571" cy="200025"/>
          </a:xfrm>
          <a:prstGeom prst="rect">
            <a:avLst/>
          </a:prstGeom>
          <a:noFill/>
          <a:ln/>
        </p:spPr>
        <p:txBody>
          <a:bodyPr wrap="none" lIns="0" tIns="0" rIns="0" bIns="0" rtlCol="0" anchor="t">
            <a:spAutoFit/>
          </a:bodyPr>
          <a:lstStyle/>
          <a:p>
            <a:pPr algn="ctr" indent="0" marL="0">
              <a:lnSpc>
                <a:spcPts val="1600"/>
              </a:lnSpc>
              <a:buNone/>
            </a:pPr>
            <a:r>
              <a:rPr lang="en-US" sz="987" b="1" dirty="0">
                <a:solidFill>
                  <a:srgbClr val="0F172A"/>
                </a:solidFill>
              </a:rPr>
              <a:t>QUICK SETUP</a:t>
            </a:r>
            <a:endParaRPr lang="en-US" sz="987" dirty="0"/>
          </a:p>
        </p:txBody>
      </p:sp>
      <p:sp>
        <p:nvSpPr>
          <p:cNvPr id="12" name="Text 8"/>
          <p:cNvSpPr/>
          <p:nvPr/>
        </p:nvSpPr>
        <p:spPr>
          <a:xfrm>
            <a:off x="7507439" y="1935956"/>
            <a:ext cx="1065005" cy="142875"/>
          </a:xfrm>
          <a:prstGeom prst="rect">
            <a:avLst/>
          </a:prstGeom>
          <a:noFill/>
          <a:ln/>
        </p:spPr>
        <p:txBody>
          <a:bodyPr wrap="none" lIns="0" tIns="0" rIns="0" bIns="0" rtlCol="0" anchor="t">
            <a:spAutoFit/>
          </a:bodyPr>
          <a:lstStyle/>
          <a:p>
            <a:pPr algn="ctr" indent="0" marL="0">
              <a:lnSpc>
                <a:spcPts val="1100"/>
              </a:lnSpc>
              <a:buNone/>
            </a:pPr>
            <a:r>
              <a:rPr lang="en-US" sz="683" b="1" dirty="0">
                <a:solidFill>
                  <a:srgbClr val="2563EB"/>
                </a:solidFill>
              </a:rPr>
              <a:t>1:30</a:t>
            </a:r>
            <a:endParaRPr lang="en-US" sz="683" dirty="0"/>
          </a:p>
        </p:txBody>
      </p:sp>
      <p:sp>
        <p:nvSpPr>
          <p:cNvPr id="13" name="Text 9"/>
          <p:cNvSpPr/>
          <p:nvPr/>
        </p:nvSpPr>
        <p:spPr>
          <a:xfrm>
            <a:off x="7507439" y="2107406"/>
            <a:ext cx="1065005" cy="200025"/>
          </a:xfrm>
          <a:prstGeom prst="rect">
            <a:avLst/>
          </a:prstGeom>
          <a:noFill/>
          <a:ln/>
        </p:spPr>
        <p:txBody>
          <a:bodyPr wrap="none" lIns="0" tIns="0" rIns="0" bIns="0" rtlCol="0" anchor="t">
            <a:spAutoFit/>
          </a:bodyPr>
          <a:lstStyle/>
          <a:p>
            <a:pPr algn="ctr" indent="0" marL="0">
              <a:lnSpc>
                <a:spcPts val="1600"/>
              </a:lnSpc>
              <a:buNone/>
            </a:pPr>
            <a:r>
              <a:rPr lang="en-US" sz="987" b="1" dirty="0">
                <a:solidFill>
                  <a:srgbClr val="0F172A"/>
                </a:solidFill>
              </a:rPr>
              <a:t>TRACK WEIGHT</a:t>
            </a:r>
            <a:endParaRPr lang="en-US" sz="987" dirty="0"/>
          </a:p>
        </p:txBody>
      </p:sp>
      <p:pic>
        <p:nvPicPr>
          <p:cNvPr id="14" name="Image 1" descr="preencoded.png">    </p:cNvPr>
          <p:cNvPicPr>
            <a:picLocks noChangeAspect="1"/>
          </p:cNvPicPr>
          <p:nvPr/>
        </p:nvPicPr>
        <p:blipFill>
          <a:blip r:embed="rId2"/>
          <a:stretch>
            <a:fillRect/>
          </a:stretch>
        </p:blipFill>
        <p:spPr>
          <a:xfrm>
            <a:off x="571500" y="3178969"/>
            <a:ext cx="133945" cy="257175"/>
          </a:xfrm>
          <a:prstGeom prst="rect">
            <a:avLst/>
          </a:prstGeom>
        </p:spPr>
      </p:pic>
      <p:sp>
        <p:nvSpPr>
          <p:cNvPr id="15" name="Text 10"/>
          <p:cNvSpPr/>
          <p:nvPr/>
        </p:nvSpPr>
        <p:spPr>
          <a:xfrm>
            <a:off x="819745" y="3164681"/>
            <a:ext cx="985000" cy="285750"/>
          </a:xfrm>
          <a:prstGeom prst="rect">
            <a:avLst/>
          </a:prstGeom>
          <a:noFill/>
          <a:ln/>
        </p:spPr>
        <p:txBody>
          <a:bodyPr wrap="none" lIns="0" tIns="0" rIns="0" bIns="0" rtlCol="0" anchor="t">
            <a:spAutoFit/>
          </a:bodyPr>
          <a:lstStyle/>
          <a:p>
            <a:pPr algn="l" indent="0" marL="0">
              <a:lnSpc>
                <a:spcPts val="2300"/>
              </a:lnSpc>
              <a:buNone/>
            </a:pPr>
            <a:r>
              <a:rPr lang="en-US" sz="1924" dirty="0">
                <a:solidFill>
                  <a:srgbClr val="94A3B8"/>
                </a:solidFill>
              </a:rPr>
              <a:t>No login</a:t>
            </a:r>
            <a:endParaRPr lang="en-US" sz="1924" dirty="0"/>
          </a:p>
        </p:txBody>
      </p:sp>
      <p:pic>
        <p:nvPicPr>
          <p:cNvPr id="16" name="Image 2" descr="preencoded.png">    </p:cNvPr>
          <p:cNvPicPr>
            <a:picLocks noChangeAspect="1"/>
          </p:cNvPicPr>
          <p:nvPr/>
        </p:nvPicPr>
        <p:blipFill>
          <a:blip r:embed="rId3"/>
          <a:stretch>
            <a:fillRect/>
          </a:stretch>
        </p:blipFill>
        <p:spPr>
          <a:xfrm>
            <a:off x="571500" y="3636169"/>
            <a:ext cx="133945" cy="257175"/>
          </a:xfrm>
          <a:prstGeom prst="rect">
            <a:avLst/>
          </a:prstGeom>
        </p:spPr>
      </p:pic>
      <p:sp>
        <p:nvSpPr>
          <p:cNvPr id="17" name="Text 11"/>
          <p:cNvSpPr/>
          <p:nvPr/>
        </p:nvSpPr>
        <p:spPr>
          <a:xfrm>
            <a:off x="819745" y="3621881"/>
            <a:ext cx="1035648" cy="285750"/>
          </a:xfrm>
          <a:prstGeom prst="rect">
            <a:avLst/>
          </a:prstGeom>
          <a:noFill/>
          <a:ln/>
        </p:spPr>
        <p:txBody>
          <a:bodyPr wrap="none" lIns="0" tIns="0" rIns="0" bIns="0" rtlCol="0" anchor="t">
            <a:spAutoFit/>
          </a:bodyPr>
          <a:lstStyle/>
          <a:p>
            <a:pPr algn="l" indent="0" marL="0">
              <a:lnSpc>
                <a:spcPts val="2300"/>
              </a:lnSpc>
              <a:buNone/>
            </a:pPr>
            <a:r>
              <a:rPr lang="en-US" sz="1924" dirty="0">
                <a:solidFill>
                  <a:srgbClr val="94A3B8"/>
                </a:solidFill>
              </a:rPr>
              <a:t>No email</a:t>
            </a:r>
            <a:endParaRPr lang="en-US" sz="1924" dirty="0"/>
          </a:p>
        </p:txBody>
      </p:sp>
      <p:pic>
        <p:nvPicPr>
          <p:cNvPr id="18" name="Image 3" descr="preencoded.png">    </p:cNvPr>
          <p:cNvPicPr>
            <a:picLocks noChangeAspect="1"/>
          </p:cNvPicPr>
          <p:nvPr/>
        </p:nvPicPr>
        <p:blipFill>
          <a:blip r:embed="rId4"/>
          <a:stretch>
            <a:fillRect/>
          </a:stretch>
        </p:blipFill>
        <p:spPr>
          <a:xfrm>
            <a:off x="571500" y="4121944"/>
            <a:ext cx="214313" cy="257175"/>
          </a:xfrm>
          <a:prstGeom prst="rect">
            <a:avLst/>
          </a:prstGeom>
        </p:spPr>
      </p:pic>
      <p:sp>
        <p:nvSpPr>
          <p:cNvPr id="19" name="Text 12"/>
          <p:cNvSpPr/>
          <p:nvPr/>
        </p:nvSpPr>
        <p:spPr>
          <a:xfrm>
            <a:off x="900113" y="4079081"/>
            <a:ext cx="2314938" cy="342900"/>
          </a:xfrm>
          <a:prstGeom prst="rect">
            <a:avLst/>
          </a:prstGeom>
          <a:noFill/>
          <a:ln/>
        </p:spPr>
        <p:txBody>
          <a:bodyPr wrap="none" lIns="0" tIns="0" rIns="0" bIns="0" rtlCol="0" anchor="t">
            <a:spAutoFit/>
          </a:bodyPr>
          <a:lstStyle/>
          <a:p>
            <a:pPr algn="l" indent="0" marL="0">
              <a:lnSpc>
                <a:spcPts val="2700"/>
              </a:lnSpc>
              <a:buNone/>
            </a:pPr>
            <a:r>
              <a:rPr lang="en-US" sz="2436" b="1" spc="-1" kern="0" dirty="0">
                <a:solidFill>
                  <a:srgbClr val="2563EB"/>
                </a:solidFill>
              </a:rPr>
              <a:t>NO FRICTION.</a:t>
            </a:r>
            <a:endParaRPr lang="en-US" sz="2436" dirty="0"/>
          </a:p>
        </p:txBody>
      </p:sp>
      <p:pic>
        <p:nvPicPr>
          <p:cNvPr id="20" name="Image 4" descr="preencoded.png">    </p:cNvPr>
          <p:cNvPicPr>
            <a:picLocks noChangeAspect="1"/>
          </p:cNvPicPr>
          <p:nvPr/>
        </p:nvPicPr>
        <p:blipFill>
          <a:blip r:embed="rId5">
            <a:alphaModFix amt="90000"/>
          </a:blip>
          <a:stretch>
            <a:fillRect/>
          </a:stretch>
        </p:blipFill>
        <p:spPr>
          <a:xfrm>
            <a:off x="5321312" y="2878931"/>
            <a:ext cx="3251188" cy="1828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White-Label Solution</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BRAND OWNERSHIP</a:t>
            </a:r>
            <a:endParaRPr lang="en-US" sz="3077" dirty="0"/>
          </a:p>
        </p:txBody>
      </p:sp>
      <p:sp>
        <p:nvSpPr>
          <p:cNvPr id="6" name="Text 2"/>
          <p:cNvSpPr/>
          <p:nvPr/>
        </p:nvSpPr>
        <p:spPr>
          <a:xfrm>
            <a:off x="771525" y="1593056"/>
            <a:ext cx="1888964"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1E293B"/>
                </a:solidFill>
              </a:rPr>
              <a:t>Your Brand Name</a:t>
            </a:r>
            <a:endParaRPr lang="en-US" sz="1499" dirty="0"/>
          </a:p>
        </p:txBody>
      </p:sp>
      <p:sp>
        <p:nvSpPr>
          <p:cNvPr id="7" name="Text 3"/>
          <p:cNvSpPr/>
          <p:nvPr/>
        </p:nvSpPr>
        <p:spPr>
          <a:xfrm>
            <a:off x="771525" y="2193131"/>
            <a:ext cx="1919185"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1E293B"/>
                </a:solidFill>
              </a:rPr>
              <a:t>Your Brand Colors</a:t>
            </a:r>
            <a:endParaRPr lang="en-US" sz="1499" dirty="0"/>
          </a:p>
        </p:txBody>
      </p:sp>
      <p:sp>
        <p:nvSpPr>
          <p:cNvPr id="8" name="Text 4"/>
          <p:cNvSpPr/>
          <p:nvPr/>
        </p:nvSpPr>
        <p:spPr>
          <a:xfrm>
            <a:off x="771525" y="2793206"/>
            <a:ext cx="2085919"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1E293B"/>
                </a:solidFill>
              </a:rPr>
              <a:t>Your Product Name</a:t>
            </a:r>
            <a:endParaRPr lang="en-US" sz="1499" dirty="0"/>
          </a:p>
        </p:txBody>
      </p:sp>
      <p:sp>
        <p:nvSpPr>
          <p:cNvPr id="9" name="Text 5"/>
          <p:cNvSpPr/>
          <p:nvPr/>
        </p:nvSpPr>
        <p:spPr>
          <a:xfrm>
            <a:off x="771525" y="3393281"/>
            <a:ext cx="1869039"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1E293B"/>
                </a:solidFill>
              </a:rPr>
              <a:t>Your Calorie Data</a:t>
            </a:r>
            <a:endParaRPr lang="en-US" sz="1499" dirty="0"/>
          </a:p>
        </p:txBody>
      </p:sp>
      <p:sp>
        <p:nvSpPr>
          <p:cNvPr id="10" name="Shape 6"/>
          <p:cNvSpPr/>
          <p:nvPr/>
        </p:nvSpPr>
        <p:spPr>
          <a:xfrm>
            <a:off x="571500" y="3821906"/>
            <a:ext cx="3771900" cy="992981"/>
          </a:xfrm>
          <a:prstGeom prst="rect">
            <a:avLst/>
          </a:prstGeom>
          <a:solidFill>
            <a:srgbClr val="0F172A"/>
          </a:solidFill>
          <a:ln/>
        </p:spPr>
      </p:sp>
      <p:sp>
        <p:nvSpPr>
          <p:cNvPr id="11" name="Text 7"/>
          <p:cNvSpPr/>
          <p:nvPr/>
        </p:nvSpPr>
        <p:spPr>
          <a:xfrm>
            <a:off x="800100" y="4050506"/>
            <a:ext cx="3314700" cy="535781"/>
          </a:xfrm>
          <a:prstGeom prst="rect">
            <a:avLst/>
          </a:prstGeom>
          <a:noFill/>
          <a:ln/>
        </p:spPr>
        <p:txBody>
          <a:bodyPr wrap="square" lIns="0" tIns="0" rIns="0" bIns="0" rtlCol="0" anchor="t">
            <a:spAutoFit/>
          </a:bodyPr>
          <a:lstStyle/>
          <a:p>
            <a:pPr algn="l" indent="0" marL="0">
              <a:lnSpc>
                <a:spcPts val="2100"/>
              </a:lnSpc>
              <a:buNone/>
            </a:pPr>
            <a:r>
              <a:rPr lang="en-US" sz="1595" dirty="0">
                <a:solidFill>
                  <a:srgbClr val="FFFFFF"/>
                </a:solidFill>
              </a:rPr>
              <a:t>"We build it.</a:t>
            </a:r>
            <a:pPr algn="l" indent="0" marL="0">
              <a:lnSpc>
                <a:spcPts val="2100"/>
              </a:lnSpc>
              <a:buNone/>
            </a:pPr>
            <a:r>
              <a:rPr lang="en-US" sz="1595" dirty="0">
                <a:solidFill>
                  <a:srgbClr val="FFFFFF"/>
                </a:solidFill>
              </a:rPr>
              <a:t>
</a:t>
            </a:r>
            <a:pPr algn="l" indent="0" marL="0">
              <a:lnSpc>
                <a:spcPts val="2100"/>
              </a:lnSpc>
              <a:buNone/>
            </a:pPr>
            <a:r>
              <a:rPr lang="en-US" sz="1499" b="1" dirty="0">
                <a:solidFill>
                  <a:srgbClr val="60A5FA"/>
                </a:solidFill>
              </a:rPr>
              <a:t>You own the experience.</a:t>
            </a:r>
            <a:pPr algn="l" indent="0" marL="0">
              <a:lnSpc>
                <a:spcPts val="2100"/>
              </a:lnSpc>
              <a:buNone/>
            </a:pPr>
            <a:r>
              <a:rPr lang="en-US" sz="1595" dirty="0">
                <a:solidFill>
                  <a:srgbClr val="FFFFFF"/>
                </a:solidFill>
              </a:rPr>
              <a:t>"</a:t>
            </a:r>
            <a:endParaRPr lang="en-US" sz="1595" dirty="0"/>
          </a:p>
        </p:txBody>
      </p:sp>
      <p:sp>
        <p:nvSpPr>
          <p:cNvPr id="12" name="Shape 8"/>
          <p:cNvSpPr/>
          <p:nvPr/>
        </p:nvSpPr>
        <p:spPr>
          <a:xfrm>
            <a:off x="4800600" y="1535906"/>
            <a:ext cx="3771900" cy="3214688"/>
          </a:xfrm>
          <a:prstGeom prst="rect">
            <a:avLst/>
          </a:prstGeom>
          <a:solidFill>
            <a:srgbClr val="FFFFFF"/>
          </a:solidFill>
          <a:ln w="9144">
            <a:solidFill>
              <a:srgbClr val="E2E8F0"/>
            </a:solidFill>
            <a:prstDash val="solid"/>
          </a:ln>
        </p:spPr>
      </p:sp>
      <p:pic>
        <p:nvPicPr>
          <p:cNvPr id="13" name="Image 1" descr="preencoded.png">    </p:cNvPr>
          <p:cNvPicPr>
            <a:picLocks noChangeAspect="1"/>
          </p:cNvPicPr>
          <p:nvPr/>
        </p:nvPicPr>
        <p:blipFill>
          <a:blip r:embed="rId2"/>
          <a:stretch>
            <a:fillRect/>
          </a:stretch>
        </p:blipFill>
        <p:spPr>
          <a:xfrm>
            <a:off x="4857750" y="1593056"/>
            <a:ext cx="3657600" cy="3100388"/>
          </a:xfrm>
          <a:prstGeom prst="rect">
            <a:avLst/>
          </a:prstGeom>
        </p:spPr>
      </p:pic>
      <p:sp>
        <p:nvSpPr>
          <p:cNvPr id="14" name="Text 9"/>
          <p:cNvSpPr/>
          <p:nvPr/>
        </p:nvSpPr>
        <p:spPr>
          <a:xfrm>
            <a:off x="7441639" y="4864894"/>
            <a:ext cx="1130861" cy="142875"/>
          </a:xfrm>
          <a:prstGeom prst="rect">
            <a:avLst/>
          </a:prstGeom>
          <a:noFill/>
          <a:ln/>
        </p:spPr>
        <p:txBody>
          <a:bodyPr wrap="none" lIns="0" tIns="0" rIns="0" bIns="0" rtlCol="0" anchor="t">
            <a:spAutoFit/>
          </a:bodyPr>
          <a:lstStyle/>
          <a:p>
            <a:pPr algn="l" indent="0" marL="0">
              <a:lnSpc>
                <a:spcPts val="1100"/>
              </a:lnSpc>
              <a:buNone/>
            </a:pPr>
            <a:r>
              <a:rPr lang="en-US" sz="727" spc="1" kern="0" dirty="0">
                <a:solidFill>
                  <a:srgbClr val="94A3B8"/>
                </a:solidFill>
              </a:rPr>
              <a:t>Interface Preview</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4989212"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Data Insights</a:t>
            </a:r>
            <a:endParaRPr lang="en-US" sz="683" dirty="0"/>
          </a:p>
        </p:txBody>
      </p:sp>
      <p:sp>
        <p:nvSpPr>
          <p:cNvPr id="5" name="Text 1"/>
          <p:cNvSpPr/>
          <p:nvPr/>
        </p:nvSpPr>
        <p:spPr>
          <a:xfrm>
            <a:off x="571500" y="657225"/>
            <a:ext cx="4989212"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ENGAGEMENT METRICS</a:t>
            </a:r>
            <a:endParaRPr lang="en-US" sz="3077" dirty="0"/>
          </a:p>
        </p:txBody>
      </p:sp>
      <p:pic>
        <p:nvPicPr>
          <p:cNvPr id="6" name="Image 1" descr="preencoded.png">    </p:cNvPr>
          <p:cNvPicPr>
            <a:picLocks noChangeAspect="1"/>
          </p:cNvPicPr>
          <p:nvPr/>
        </p:nvPicPr>
        <p:blipFill>
          <a:blip r:embed="rId2">
            <a:alphaModFix amt="80000"/>
          </a:blip>
          <a:stretch>
            <a:fillRect/>
          </a:stretch>
        </p:blipFill>
        <p:spPr>
          <a:xfrm>
            <a:off x="8115300" y="735806"/>
            <a:ext cx="457200" cy="457200"/>
          </a:xfrm>
          <a:prstGeom prst="rect">
            <a:avLst/>
          </a:prstGeom>
        </p:spPr>
      </p:pic>
      <p:sp>
        <p:nvSpPr>
          <p:cNvPr id="7" name="Text 2"/>
          <p:cNvSpPr/>
          <p:nvPr/>
        </p:nvSpPr>
        <p:spPr>
          <a:xfrm>
            <a:off x="771525" y="1535906"/>
            <a:ext cx="2238366"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Total QR Activations</a:t>
            </a:r>
            <a:endParaRPr lang="en-US" sz="683" dirty="0"/>
          </a:p>
        </p:txBody>
      </p:sp>
      <p:sp>
        <p:nvSpPr>
          <p:cNvPr id="8" name="Text 3"/>
          <p:cNvSpPr/>
          <p:nvPr/>
        </p:nvSpPr>
        <p:spPr>
          <a:xfrm>
            <a:off x="771525" y="1707356"/>
            <a:ext cx="2238366" cy="428625"/>
          </a:xfrm>
          <a:prstGeom prst="rect">
            <a:avLst/>
          </a:prstGeom>
          <a:noFill/>
          <a:ln/>
        </p:spPr>
        <p:txBody>
          <a:bodyPr wrap="none" lIns="0" tIns="0" rIns="0" bIns="0" rtlCol="0" anchor="t">
            <a:spAutoFit/>
          </a:bodyPr>
          <a:lstStyle/>
          <a:p>
            <a:pPr algn="l" indent="0" marL="0">
              <a:lnSpc>
                <a:spcPts val="3400"/>
              </a:lnSpc>
              <a:buNone/>
            </a:pPr>
            <a:r>
              <a:rPr lang="en-US" sz="3077" b="1" dirty="0">
                <a:solidFill>
                  <a:srgbClr val="0F172A"/>
                </a:solidFill>
              </a:rPr>
              <a:t>14,205</a:t>
            </a:r>
            <a:endParaRPr lang="en-US" sz="3077" dirty="0"/>
          </a:p>
        </p:txBody>
      </p:sp>
      <p:sp>
        <p:nvSpPr>
          <p:cNvPr id="9" name="Text 4"/>
          <p:cNvSpPr/>
          <p:nvPr/>
        </p:nvSpPr>
        <p:spPr>
          <a:xfrm>
            <a:off x="771525" y="2193131"/>
            <a:ext cx="2238366"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16A34A"/>
                </a:solidFill>
              </a:rPr>
              <a:t>▲ 12% vs last month</a:t>
            </a:r>
            <a:endParaRPr lang="en-US" sz="683" dirty="0"/>
          </a:p>
        </p:txBody>
      </p:sp>
      <p:sp>
        <p:nvSpPr>
          <p:cNvPr id="10" name="Text 5"/>
          <p:cNvSpPr/>
          <p:nvPr/>
        </p:nvSpPr>
        <p:spPr>
          <a:xfrm>
            <a:off x="3552816" y="1535906"/>
            <a:ext cx="2238366"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Setup Completion Rate</a:t>
            </a:r>
            <a:endParaRPr lang="en-US" sz="683" dirty="0"/>
          </a:p>
        </p:txBody>
      </p:sp>
      <p:sp>
        <p:nvSpPr>
          <p:cNvPr id="11" name="Text 6"/>
          <p:cNvSpPr/>
          <p:nvPr/>
        </p:nvSpPr>
        <p:spPr>
          <a:xfrm>
            <a:off x="3552816" y="1707356"/>
            <a:ext cx="2238366" cy="428625"/>
          </a:xfrm>
          <a:prstGeom prst="rect">
            <a:avLst/>
          </a:prstGeom>
          <a:noFill/>
          <a:ln/>
        </p:spPr>
        <p:txBody>
          <a:bodyPr wrap="none" lIns="0" tIns="0" rIns="0" bIns="0" rtlCol="0" anchor="t">
            <a:spAutoFit/>
          </a:bodyPr>
          <a:lstStyle/>
          <a:p>
            <a:pPr algn="l" indent="0" marL="0">
              <a:lnSpc>
                <a:spcPts val="3400"/>
              </a:lnSpc>
              <a:buNone/>
            </a:pPr>
            <a:r>
              <a:rPr lang="en-US" sz="3077" b="1" dirty="0">
                <a:solidFill>
                  <a:srgbClr val="0F172A"/>
                </a:solidFill>
              </a:rPr>
              <a:t>78.4%</a:t>
            </a:r>
            <a:endParaRPr lang="en-US" sz="3077" dirty="0"/>
          </a:p>
        </p:txBody>
      </p:sp>
      <p:sp>
        <p:nvSpPr>
          <p:cNvPr id="12" name="Text 7"/>
          <p:cNvSpPr/>
          <p:nvPr/>
        </p:nvSpPr>
        <p:spPr>
          <a:xfrm>
            <a:off x="3552816" y="2193131"/>
            <a:ext cx="2238366"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94A3B8"/>
                </a:solidFill>
              </a:rPr>
              <a:t>Industry avg: 45%</a:t>
            </a:r>
            <a:endParaRPr lang="en-US" sz="683" dirty="0"/>
          </a:p>
        </p:txBody>
      </p:sp>
      <p:sp>
        <p:nvSpPr>
          <p:cNvPr id="13" name="Text 8"/>
          <p:cNvSpPr/>
          <p:nvPr/>
        </p:nvSpPr>
        <p:spPr>
          <a:xfrm>
            <a:off x="6334106" y="1535906"/>
            <a:ext cx="2238394"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Users with 3+ Entries</a:t>
            </a:r>
            <a:endParaRPr lang="en-US" sz="683" dirty="0"/>
          </a:p>
        </p:txBody>
      </p:sp>
      <p:sp>
        <p:nvSpPr>
          <p:cNvPr id="14" name="Text 9"/>
          <p:cNvSpPr/>
          <p:nvPr/>
        </p:nvSpPr>
        <p:spPr>
          <a:xfrm>
            <a:off x="6334106" y="1707356"/>
            <a:ext cx="2238394" cy="428625"/>
          </a:xfrm>
          <a:prstGeom prst="rect">
            <a:avLst/>
          </a:prstGeom>
          <a:noFill/>
          <a:ln/>
        </p:spPr>
        <p:txBody>
          <a:bodyPr wrap="none" lIns="0" tIns="0" rIns="0" bIns="0" rtlCol="0" anchor="t">
            <a:spAutoFit/>
          </a:bodyPr>
          <a:lstStyle/>
          <a:p>
            <a:pPr algn="l" indent="0" marL="0">
              <a:lnSpc>
                <a:spcPts val="3400"/>
              </a:lnSpc>
              <a:buNone/>
            </a:pPr>
            <a:r>
              <a:rPr lang="en-US" sz="3077" b="1" dirty="0">
                <a:solidFill>
                  <a:srgbClr val="0F172A"/>
                </a:solidFill>
              </a:rPr>
              <a:t>62.1%</a:t>
            </a:r>
            <a:endParaRPr lang="en-US" sz="3077" dirty="0"/>
          </a:p>
        </p:txBody>
      </p:sp>
      <p:sp>
        <p:nvSpPr>
          <p:cNvPr id="15" name="Text 10"/>
          <p:cNvSpPr/>
          <p:nvPr/>
        </p:nvSpPr>
        <p:spPr>
          <a:xfrm>
            <a:off x="6334106" y="2193131"/>
            <a:ext cx="2238394" cy="142875"/>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94A3B8"/>
                </a:solidFill>
              </a:rPr>
              <a:t>High retention cohort</a:t>
            </a:r>
            <a:endParaRPr lang="en-US" sz="683" dirty="0"/>
          </a:p>
        </p:txBody>
      </p:sp>
      <p:sp>
        <p:nvSpPr>
          <p:cNvPr id="16" name="Text 11"/>
          <p:cNvSpPr/>
          <p:nvPr/>
        </p:nvSpPr>
        <p:spPr>
          <a:xfrm>
            <a:off x="571500" y="2678906"/>
            <a:ext cx="37719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1E293B"/>
                </a:solidFill>
              </a:rPr>
              <a:t>Avg Opens / Week</a:t>
            </a:r>
            <a:endParaRPr lang="en-US" sz="987" dirty="0"/>
          </a:p>
        </p:txBody>
      </p:sp>
      <p:pic>
        <p:nvPicPr>
          <p:cNvPr id="17" name="Image 2" descr="preencoded.png">    </p:cNvPr>
          <p:cNvPicPr>
            <a:picLocks noChangeAspect="1"/>
          </p:cNvPicPr>
          <p:nvPr/>
        </p:nvPicPr>
        <p:blipFill>
          <a:blip r:embed="rId3"/>
          <a:stretch>
            <a:fillRect/>
          </a:stretch>
        </p:blipFill>
        <p:spPr>
          <a:xfrm>
            <a:off x="571500" y="2993231"/>
            <a:ext cx="3771900" cy="2143125"/>
          </a:xfrm>
          <a:prstGeom prst="rect">
            <a:avLst/>
          </a:prstGeom>
        </p:spPr>
      </p:pic>
      <p:sp>
        <p:nvSpPr>
          <p:cNvPr id="18" name="Text 12"/>
          <p:cNvSpPr/>
          <p:nvPr/>
        </p:nvSpPr>
        <p:spPr>
          <a:xfrm>
            <a:off x="4800600" y="2678906"/>
            <a:ext cx="37719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1E293B"/>
                </a:solidFill>
              </a:rPr>
              <a:t>Avg Progress Bucket (Anonymized)</a:t>
            </a:r>
            <a:endParaRPr lang="en-US" sz="987" dirty="0"/>
          </a:p>
        </p:txBody>
      </p:sp>
      <p:pic>
        <p:nvPicPr>
          <p:cNvPr id="19" name="Image 3" descr="preencoded.png">    </p:cNvPr>
          <p:cNvPicPr>
            <a:picLocks noChangeAspect="1"/>
          </p:cNvPicPr>
          <p:nvPr/>
        </p:nvPicPr>
        <p:blipFill>
          <a:blip r:embed="rId4"/>
          <a:stretch>
            <a:fillRect/>
          </a:stretch>
        </p:blipFill>
        <p:spPr>
          <a:xfrm>
            <a:off x="4800600" y="2993231"/>
            <a:ext cx="3771900" cy="2143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57200"/>
            <a:ext cx="8001000" cy="914400"/>
          </a:xfrm>
          <a:prstGeom prst="rect">
            <a:avLst/>
          </a:prstGeom>
          <a:solidFill>
            <a:srgbClr val="000000">
              <a:alpha val="0"/>
            </a:srgbClr>
          </a:solidFill>
          <a:ln/>
        </p:spPr>
      </p:sp>
      <p:sp>
        <p:nvSpPr>
          <p:cNvPr id="5" name="Shape 1"/>
          <p:cNvSpPr/>
          <p:nvPr/>
        </p:nvSpPr>
        <p:spPr>
          <a:xfrm>
            <a:off x="571500" y="1364456"/>
            <a:ext cx="8001000" cy="7144"/>
          </a:xfrm>
          <a:prstGeom prst="rect">
            <a:avLst/>
          </a:prstGeom>
          <a:solidFill>
            <a:srgbClr val="64748B"/>
          </a:solidFill>
          <a:ln/>
        </p:spPr>
      </p:sp>
      <p:sp>
        <p:nvSpPr>
          <p:cNvPr id="6" name="Text 2"/>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93C5FD"/>
                </a:solidFill>
              </a:rPr>
              <a:t>Risk Mitigation</a:t>
            </a:r>
            <a:endParaRPr lang="en-US" sz="683" dirty="0"/>
          </a:p>
        </p:txBody>
      </p:sp>
      <p:sp>
        <p:nvSpPr>
          <p:cNvPr id="7" name="Text 3"/>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FFFFFF"/>
                </a:solidFill>
              </a:rPr>
              <a:t>WHAT WE </a:t>
            </a:r>
            <a:pPr algn="l" indent="0" marL="0">
              <a:lnSpc>
                <a:spcPts val="4200"/>
              </a:lnSpc>
              <a:buNone/>
            </a:pPr>
            <a:r>
              <a:rPr lang="en-US" sz="3077" b="1" dirty="0">
                <a:solidFill>
                  <a:srgbClr val="60A5FA"/>
                </a:solidFill>
              </a:rPr>
              <a:t>DON'T</a:t>
            </a:r>
            <a:pPr algn="l" indent="0" marL="0">
              <a:lnSpc>
                <a:spcPts val="4200"/>
              </a:lnSpc>
              <a:buNone/>
            </a:pPr>
            <a:r>
              <a:rPr lang="en-US" sz="3077" b="1" dirty="0">
                <a:solidFill>
                  <a:srgbClr val="FFFFFF"/>
                </a:solidFill>
              </a:rPr>
              <a:t> MEASURE</a:t>
            </a:r>
            <a:endParaRPr lang="en-US" sz="3077" dirty="0"/>
          </a:p>
        </p:txBody>
      </p:sp>
      <p:sp>
        <p:nvSpPr>
          <p:cNvPr id="8" name="Shape 4"/>
          <p:cNvSpPr/>
          <p:nvPr/>
        </p:nvSpPr>
        <p:spPr>
          <a:xfrm>
            <a:off x="571500" y="1821656"/>
            <a:ext cx="2438391" cy="2002036"/>
          </a:xfrm>
          <a:prstGeom prst="rect">
            <a:avLst/>
          </a:prstGeom>
          <a:solidFill>
            <a:srgbClr val="1E293B">
              <a:alpha val="50000"/>
            </a:srgbClr>
          </a:solidFill>
          <a:ln/>
        </p:spPr>
      </p:sp>
      <p:sp>
        <p:nvSpPr>
          <p:cNvPr id="9" name="Shape 5"/>
          <p:cNvSpPr/>
          <p:nvPr/>
        </p:nvSpPr>
        <p:spPr>
          <a:xfrm>
            <a:off x="571500" y="1821656"/>
            <a:ext cx="28575" cy="2002036"/>
          </a:xfrm>
          <a:prstGeom prst="rect">
            <a:avLst/>
          </a:prstGeom>
          <a:solidFill>
            <a:srgbClr val="3B82F6"/>
          </a:solidFill>
          <a:ln/>
        </p:spPr>
      </p:sp>
      <p:pic>
        <p:nvPicPr>
          <p:cNvPr id="10" name="Image 1" descr="preencoded.png">    </p:cNvPr>
          <p:cNvPicPr>
            <a:picLocks noChangeAspect="1"/>
          </p:cNvPicPr>
          <p:nvPr/>
        </p:nvPicPr>
        <p:blipFill>
          <a:blip r:embed="rId2"/>
          <a:stretch>
            <a:fillRect/>
          </a:stretch>
        </p:blipFill>
        <p:spPr>
          <a:xfrm>
            <a:off x="800100" y="2066330"/>
            <a:ext cx="257175" cy="257175"/>
          </a:xfrm>
          <a:prstGeom prst="rect">
            <a:avLst/>
          </a:prstGeom>
        </p:spPr>
      </p:pic>
      <p:sp>
        <p:nvSpPr>
          <p:cNvPr id="11" name="Text 6"/>
          <p:cNvSpPr/>
          <p:nvPr/>
        </p:nvSpPr>
        <p:spPr>
          <a:xfrm>
            <a:off x="800100" y="2507456"/>
            <a:ext cx="1981191"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FFFFFF"/>
                </a:solidFill>
              </a:rPr>
              <a:t>Actual Weight Values</a:t>
            </a:r>
            <a:endParaRPr lang="en-US" sz="1193" dirty="0"/>
          </a:p>
        </p:txBody>
      </p:sp>
      <p:sp>
        <p:nvSpPr>
          <p:cNvPr id="12" name="Text 7"/>
          <p:cNvSpPr/>
          <p:nvPr/>
        </p:nvSpPr>
        <p:spPr>
          <a:xfrm>
            <a:off x="800100" y="2793206"/>
            <a:ext cx="1981191"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94A3B8"/>
                </a:solidFill>
              </a:rPr>
              <a:t>Medical Liability</a:t>
            </a:r>
            <a:endParaRPr lang="en-US" sz="885" dirty="0"/>
          </a:p>
        </p:txBody>
      </p:sp>
      <p:sp>
        <p:nvSpPr>
          <p:cNvPr id="13" name="Text 8"/>
          <p:cNvSpPr/>
          <p:nvPr/>
        </p:nvSpPr>
        <p:spPr>
          <a:xfrm>
            <a:off x="800100" y="3107531"/>
            <a:ext cx="1981191" cy="48756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CBD5E1"/>
                </a:solidFill>
              </a:rPr>
              <a:t>We avoid collecting precise medical data to prevent classification as a diagnostic tool.</a:t>
            </a:r>
            <a:endParaRPr lang="en-US" sz="727" dirty="0"/>
          </a:p>
        </p:txBody>
      </p:sp>
      <p:sp>
        <p:nvSpPr>
          <p:cNvPr id="14" name="Shape 9"/>
          <p:cNvSpPr/>
          <p:nvPr/>
        </p:nvSpPr>
        <p:spPr>
          <a:xfrm>
            <a:off x="3352791" y="1821656"/>
            <a:ext cx="2438391" cy="2002036"/>
          </a:xfrm>
          <a:prstGeom prst="rect">
            <a:avLst/>
          </a:prstGeom>
          <a:solidFill>
            <a:srgbClr val="1E293B">
              <a:alpha val="50000"/>
            </a:srgbClr>
          </a:solidFill>
          <a:ln/>
        </p:spPr>
      </p:sp>
      <p:sp>
        <p:nvSpPr>
          <p:cNvPr id="15" name="Shape 10"/>
          <p:cNvSpPr/>
          <p:nvPr/>
        </p:nvSpPr>
        <p:spPr>
          <a:xfrm>
            <a:off x="3352791" y="1821656"/>
            <a:ext cx="28575" cy="2002036"/>
          </a:xfrm>
          <a:prstGeom prst="rect">
            <a:avLst/>
          </a:prstGeom>
          <a:solidFill>
            <a:srgbClr val="3B82F6"/>
          </a:solidFill>
          <a:ln/>
        </p:spPr>
      </p:sp>
      <p:pic>
        <p:nvPicPr>
          <p:cNvPr id="16" name="Image 2" descr="preencoded.png">    </p:cNvPr>
          <p:cNvPicPr>
            <a:picLocks noChangeAspect="1"/>
          </p:cNvPicPr>
          <p:nvPr/>
        </p:nvPicPr>
        <p:blipFill>
          <a:blip r:embed="rId3"/>
          <a:stretch>
            <a:fillRect/>
          </a:stretch>
        </p:blipFill>
        <p:spPr>
          <a:xfrm>
            <a:off x="3581391" y="2066330"/>
            <a:ext cx="321469" cy="257175"/>
          </a:xfrm>
          <a:prstGeom prst="rect">
            <a:avLst/>
          </a:prstGeom>
        </p:spPr>
      </p:pic>
      <p:sp>
        <p:nvSpPr>
          <p:cNvPr id="17" name="Text 11"/>
          <p:cNvSpPr/>
          <p:nvPr/>
        </p:nvSpPr>
        <p:spPr>
          <a:xfrm>
            <a:off x="3581391" y="2507456"/>
            <a:ext cx="1981191"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FFFFFF"/>
                </a:solidFill>
              </a:rPr>
              <a:t>Individual Journeys</a:t>
            </a:r>
            <a:endParaRPr lang="en-US" sz="1193" dirty="0"/>
          </a:p>
        </p:txBody>
      </p:sp>
      <p:sp>
        <p:nvSpPr>
          <p:cNvPr id="18" name="Text 12"/>
          <p:cNvSpPr/>
          <p:nvPr/>
        </p:nvSpPr>
        <p:spPr>
          <a:xfrm>
            <a:off x="3581391" y="2793206"/>
            <a:ext cx="1981191"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94A3B8"/>
                </a:solidFill>
              </a:rPr>
              <a:t>Privacy Protection</a:t>
            </a:r>
            <a:endParaRPr lang="en-US" sz="885" dirty="0"/>
          </a:p>
        </p:txBody>
      </p:sp>
      <p:sp>
        <p:nvSpPr>
          <p:cNvPr id="19" name="Text 13"/>
          <p:cNvSpPr/>
          <p:nvPr/>
        </p:nvSpPr>
        <p:spPr>
          <a:xfrm>
            <a:off x="3581391" y="3107531"/>
            <a:ext cx="1981191" cy="32504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CBD5E1"/>
                </a:solidFill>
              </a:rPr>
              <a:t>No tracking of specific user behaviors or location history. Aggregate data only.</a:t>
            </a:r>
            <a:endParaRPr lang="en-US" sz="727" dirty="0"/>
          </a:p>
        </p:txBody>
      </p:sp>
      <p:sp>
        <p:nvSpPr>
          <p:cNvPr id="20" name="Shape 14"/>
          <p:cNvSpPr/>
          <p:nvPr/>
        </p:nvSpPr>
        <p:spPr>
          <a:xfrm>
            <a:off x="6134081" y="1821656"/>
            <a:ext cx="2438419" cy="2002036"/>
          </a:xfrm>
          <a:prstGeom prst="rect">
            <a:avLst/>
          </a:prstGeom>
          <a:solidFill>
            <a:srgbClr val="1E293B">
              <a:alpha val="50000"/>
            </a:srgbClr>
          </a:solidFill>
          <a:ln/>
        </p:spPr>
      </p:sp>
      <p:sp>
        <p:nvSpPr>
          <p:cNvPr id="21" name="Shape 15"/>
          <p:cNvSpPr/>
          <p:nvPr/>
        </p:nvSpPr>
        <p:spPr>
          <a:xfrm>
            <a:off x="6134081" y="1821656"/>
            <a:ext cx="28575" cy="2002036"/>
          </a:xfrm>
          <a:prstGeom prst="rect">
            <a:avLst/>
          </a:prstGeom>
          <a:solidFill>
            <a:srgbClr val="3B82F6"/>
          </a:solidFill>
          <a:ln/>
        </p:spPr>
      </p:sp>
      <p:pic>
        <p:nvPicPr>
          <p:cNvPr id="22" name="Image 3" descr="preencoded.png">    </p:cNvPr>
          <p:cNvPicPr>
            <a:picLocks noChangeAspect="1"/>
          </p:cNvPicPr>
          <p:nvPr/>
        </p:nvPicPr>
        <p:blipFill>
          <a:blip r:embed="rId4"/>
          <a:stretch>
            <a:fillRect/>
          </a:stretch>
        </p:blipFill>
        <p:spPr>
          <a:xfrm>
            <a:off x="6362681" y="2066330"/>
            <a:ext cx="225028" cy="257175"/>
          </a:xfrm>
          <a:prstGeom prst="rect">
            <a:avLst/>
          </a:prstGeom>
        </p:spPr>
      </p:pic>
      <p:sp>
        <p:nvSpPr>
          <p:cNvPr id="23" name="Text 16"/>
          <p:cNvSpPr/>
          <p:nvPr/>
        </p:nvSpPr>
        <p:spPr>
          <a:xfrm>
            <a:off x="6362681" y="2507456"/>
            <a:ext cx="1981219"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FFFFFF"/>
                </a:solidFill>
              </a:rPr>
              <a:t>Feeding Compliance</a:t>
            </a:r>
            <a:endParaRPr lang="en-US" sz="1193" dirty="0"/>
          </a:p>
        </p:txBody>
      </p:sp>
      <p:sp>
        <p:nvSpPr>
          <p:cNvPr id="24" name="Text 17"/>
          <p:cNvSpPr/>
          <p:nvPr/>
        </p:nvSpPr>
        <p:spPr>
          <a:xfrm>
            <a:off x="6362681" y="2793206"/>
            <a:ext cx="1981219"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94A3B8"/>
                </a:solidFill>
              </a:rPr>
              <a:t>Blame Risk</a:t>
            </a:r>
            <a:endParaRPr lang="en-US" sz="885" dirty="0"/>
          </a:p>
        </p:txBody>
      </p:sp>
      <p:sp>
        <p:nvSpPr>
          <p:cNvPr id="25" name="Text 18"/>
          <p:cNvSpPr/>
          <p:nvPr/>
        </p:nvSpPr>
        <p:spPr>
          <a:xfrm>
            <a:off x="6362681" y="3107531"/>
            <a:ext cx="1981219" cy="48756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CBD5E1"/>
                </a:solidFill>
              </a:rPr>
              <a:t>We don't verify if they followed feeding instructions, avoiding liability for poor outcomes.</a:t>
            </a:r>
            <a:endParaRPr lang="en-US" sz="727" dirty="0"/>
          </a:p>
        </p:txBody>
      </p:sp>
      <p:sp>
        <p:nvSpPr>
          <p:cNvPr id="26" name="Text 19"/>
          <p:cNvSpPr/>
          <p:nvPr/>
        </p:nvSpPr>
        <p:spPr>
          <a:xfrm>
            <a:off x="571500" y="4429125"/>
            <a:ext cx="8001000" cy="257175"/>
          </a:xfrm>
          <a:prstGeom prst="rect">
            <a:avLst/>
          </a:prstGeom>
          <a:noFill/>
          <a:ln/>
        </p:spPr>
        <p:txBody>
          <a:bodyPr wrap="none" lIns="0" tIns="0" rIns="0" bIns="0" rtlCol="0" anchor="t">
            <a:spAutoFit/>
          </a:bodyPr>
          <a:lstStyle/>
          <a:p>
            <a:pPr algn="ctr" indent="0" marL="0">
              <a:lnSpc>
                <a:spcPts val="2000"/>
              </a:lnSpc>
              <a:buNone/>
            </a:pPr>
            <a:r>
              <a:rPr lang="en-US" sz="1595" i="1" dirty="0">
                <a:solidFill>
                  <a:srgbClr val="DBEAFE"/>
                </a:solidFill>
              </a:rPr>
              <a:t>"WE DON'T KNOW IF YOUR FOOD WORKED. </a:t>
            </a:r>
            <a:pPr algn="ctr" indent="0" marL="0">
              <a:lnSpc>
                <a:spcPts val="2000"/>
              </a:lnSpc>
              <a:buNone/>
            </a:pPr>
            <a:r>
              <a:rPr lang="en-US" sz="1499" b="1" dirty="0">
                <a:solidFill>
                  <a:srgbClr val="FFFFFF"/>
                </a:solidFill>
              </a:rPr>
              <a:t>THAT'S THE POINT.</a:t>
            </a:r>
            <a:pPr algn="ctr" indent="0" marL="0">
              <a:lnSpc>
                <a:spcPts val="2000"/>
              </a:lnSpc>
              <a:buNone/>
            </a:pPr>
            <a:r>
              <a:rPr lang="en-US" sz="1595" i="1" dirty="0">
                <a:solidFill>
                  <a:srgbClr val="DBEAFE"/>
                </a:solidFill>
              </a:rPr>
              <a:t>"</a:t>
            </a:r>
            <a:endParaRPr lang="en-US" sz="159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Risk Mitigation</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ZERO LIABILITY DESIGN</a:t>
            </a:r>
            <a:endParaRPr lang="en-US" sz="3077" dirty="0"/>
          </a:p>
        </p:txBody>
      </p:sp>
      <p:sp>
        <p:nvSpPr>
          <p:cNvPr id="6" name="Shape 2"/>
          <p:cNvSpPr/>
          <p:nvPr/>
        </p:nvSpPr>
        <p:spPr>
          <a:xfrm>
            <a:off x="571500" y="1535906"/>
            <a:ext cx="285750" cy="285750"/>
          </a:xfrm>
          <a:prstGeom prst="rect">
            <a:avLst/>
          </a:prstGeom>
          <a:solidFill>
            <a:srgbClr val="FEE2E2"/>
          </a:solidFill>
          <a:ln/>
        </p:spPr>
      </p:sp>
      <p:pic>
        <p:nvPicPr>
          <p:cNvPr id="7" name="Image 1" descr="preencoded.png">    </p:cNvPr>
          <p:cNvPicPr>
            <a:picLocks noChangeAspect="1"/>
          </p:cNvPicPr>
          <p:nvPr/>
        </p:nvPicPr>
        <p:blipFill>
          <a:blip r:embed="rId2"/>
          <a:stretch>
            <a:fillRect/>
          </a:stretch>
        </p:blipFill>
        <p:spPr>
          <a:xfrm>
            <a:off x="642938" y="1578769"/>
            <a:ext cx="142875" cy="200025"/>
          </a:xfrm>
          <a:prstGeom prst="rect">
            <a:avLst/>
          </a:prstGeom>
        </p:spPr>
      </p:pic>
      <p:sp>
        <p:nvSpPr>
          <p:cNvPr id="8" name="Text 3"/>
          <p:cNvSpPr/>
          <p:nvPr/>
        </p:nvSpPr>
        <p:spPr>
          <a:xfrm>
            <a:off x="971550" y="1564481"/>
            <a:ext cx="2481225"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334155"/>
                </a:solidFill>
              </a:rPr>
              <a:t>No "recommended" language</a:t>
            </a:r>
            <a:endParaRPr lang="en-US" sz="1193" dirty="0"/>
          </a:p>
        </p:txBody>
      </p:sp>
      <p:sp>
        <p:nvSpPr>
          <p:cNvPr id="9" name="Shape 4"/>
          <p:cNvSpPr/>
          <p:nvPr/>
        </p:nvSpPr>
        <p:spPr>
          <a:xfrm>
            <a:off x="571500" y="1935956"/>
            <a:ext cx="285750" cy="285750"/>
          </a:xfrm>
          <a:prstGeom prst="rect">
            <a:avLst/>
          </a:prstGeom>
          <a:solidFill>
            <a:srgbClr val="FEE2E2"/>
          </a:solidFill>
          <a:ln/>
        </p:spPr>
      </p:sp>
      <p:pic>
        <p:nvPicPr>
          <p:cNvPr id="10" name="Image 2" descr="preencoded.png">    </p:cNvPr>
          <p:cNvPicPr>
            <a:picLocks noChangeAspect="1"/>
          </p:cNvPicPr>
          <p:nvPr/>
        </p:nvPicPr>
        <p:blipFill>
          <a:blip r:embed="rId3"/>
          <a:stretch>
            <a:fillRect/>
          </a:stretch>
        </p:blipFill>
        <p:spPr>
          <a:xfrm>
            <a:off x="642938" y="1978819"/>
            <a:ext cx="142875" cy="200025"/>
          </a:xfrm>
          <a:prstGeom prst="rect">
            <a:avLst/>
          </a:prstGeom>
        </p:spPr>
      </p:pic>
      <p:sp>
        <p:nvSpPr>
          <p:cNvPr id="11" name="Text 5"/>
          <p:cNvSpPr/>
          <p:nvPr/>
        </p:nvSpPr>
        <p:spPr>
          <a:xfrm>
            <a:off x="971550" y="1964531"/>
            <a:ext cx="1837953"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334155"/>
                </a:solidFill>
              </a:rPr>
              <a:t>No outcome promises</a:t>
            </a:r>
            <a:endParaRPr lang="en-US" sz="1193" dirty="0"/>
          </a:p>
        </p:txBody>
      </p:sp>
      <p:sp>
        <p:nvSpPr>
          <p:cNvPr id="12" name="Shape 6"/>
          <p:cNvSpPr/>
          <p:nvPr/>
        </p:nvSpPr>
        <p:spPr>
          <a:xfrm>
            <a:off x="571500" y="2336006"/>
            <a:ext cx="285750" cy="285750"/>
          </a:xfrm>
          <a:prstGeom prst="rect">
            <a:avLst/>
          </a:prstGeom>
          <a:solidFill>
            <a:srgbClr val="FEE2E2"/>
          </a:solidFill>
          <a:ln/>
        </p:spPr>
      </p:sp>
      <p:pic>
        <p:nvPicPr>
          <p:cNvPr id="13" name="Image 3" descr="preencoded.png">    </p:cNvPr>
          <p:cNvPicPr>
            <a:picLocks noChangeAspect="1"/>
          </p:cNvPicPr>
          <p:nvPr/>
        </p:nvPicPr>
        <p:blipFill>
          <a:blip r:embed="rId4"/>
          <a:stretch>
            <a:fillRect/>
          </a:stretch>
        </p:blipFill>
        <p:spPr>
          <a:xfrm>
            <a:off x="642938" y="2378869"/>
            <a:ext cx="142875" cy="200025"/>
          </a:xfrm>
          <a:prstGeom prst="rect">
            <a:avLst/>
          </a:prstGeom>
        </p:spPr>
      </p:pic>
      <p:sp>
        <p:nvSpPr>
          <p:cNvPr id="14" name="Text 7"/>
          <p:cNvSpPr/>
          <p:nvPr/>
        </p:nvSpPr>
        <p:spPr>
          <a:xfrm>
            <a:off x="971550" y="2364581"/>
            <a:ext cx="1969470"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334155"/>
                </a:solidFill>
              </a:rPr>
              <a:t>No feeding instructions</a:t>
            </a:r>
            <a:endParaRPr lang="en-US" sz="1193" dirty="0"/>
          </a:p>
        </p:txBody>
      </p:sp>
      <p:sp>
        <p:nvSpPr>
          <p:cNvPr id="15" name="Shape 8"/>
          <p:cNvSpPr/>
          <p:nvPr/>
        </p:nvSpPr>
        <p:spPr>
          <a:xfrm>
            <a:off x="571500" y="2736056"/>
            <a:ext cx="285750" cy="285750"/>
          </a:xfrm>
          <a:prstGeom prst="rect">
            <a:avLst/>
          </a:prstGeom>
          <a:solidFill>
            <a:srgbClr val="FEE2E2"/>
          </a:solidFill>
          <a:ln/>
        </p:spPr>
      </p:sp>
      <p:pic>
        <p:nvPicPr>
          <p:cNvPr id="16" name="Image 4" descr="preencoded.png">    </p:cNvPr>
          <p:cNvPicPr>
            <a:picLocks noChangeAspect="1"/>
          </p:cNvPicPr>
          <p:nvPr/>
        </p:nvPicPr>
        <p:blipFill>
          <a:blip r:embed="rId5"/>
          <a:stretch>
            <a:fillRect/>
          </a:stretch>
        </p:blipFill>
        <p:spPr>
          <a:xfrm>
            <a:off x="642938" y="2778919"/>
            <a:ext cx="142875" cy="200025"/>
          </a:xfrm>
          <a:prstGeom prst="rect">
            <a:avLst/>
          </a:prstGeom>
        </p:spPr>
      </p:pic>
      <p:sp>
        <p:nvSpPr>
          <p:cNvPr id="17" name="Text 9"/>
          <p:cNvSpPr/>
          <p:nvPr/>
        </p:nvSpPr>
        <p:spPr>
          <a:xfrm>
            <a:off x="971550" y="2764631"/>
            <a:ext cx="1522149"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334155"/>
                </a:solidFill>
              </a:rPr>
              <a:t>No medical claims</a:t>
            </a:r>
            <a:endParaRPr lang="en-US" sz="1193" dirty="0"/>
          </a:p>
        </p:txBody>
      </p:sp>
      <p:sp>
        <p:nvSpPr>
          <p:cNvPr id="18" name="Shape 10"/>
          <p:cNvSpPr/>
          <p:nvPr/>
        </p:nvSpPr>
        <p:spPr>
          <a:xfrm>
            <a:off x="571500" y="3136106"/>
            <a:ext cx="285750" cy="285750"/>
          </a:xfrm>
          <a:prstGeom prst="rect">
            <a:avLst/>
          </a:prstGeom>
          <a:solidFill>
            <a:srgbClr val="FEE2E2"/>
          </a:solidFill>
          <a:ln/>
        </p:spPr>
      </p:sp>
      <p:pic>
        <p:nvPicPr>
          <p:cNvPr id="19" name="Image 5" descr="preencoded.png">    </p:cNvPr>
          <p:cNvPicPr>
            <a:picLocks noChangeAspect="1"/>
          </p:cNvPicPr>
          <p:nvPr/>
        </p:nvPicPr>
        <p:blipFill>
          <a:blip r:embed="rId6"/>
          <a:stretch>
            <a:fillRect/>
          </a:stretch>
        </p:blipFill>
        <p:spPr>
          <a:xfrm>
            <a:off x="642938" y="3178969"/>
            <a:ext cx="142875" cy="200025"/>
          </a:xfrm>
          <a:prstGeom prst="rect">
            <a:avLst/>
          </a:prstGeom>
        </p:spPr>
      </p:pic>
      <p:sp>
        <p:nvSpPr>
          <p:cNvPr id="20" name="Text 11"/>
          <p:cNvSpPr/>
          <p:nvPr/>
        </p:nvSpPr>
        <p:spPr>
          <a:xfrm>
            <a:off x="971550" y="3164681"/>
            <a:ext cx="1528483" cy="228600"/>
          </a:xfrm>
          <a:prstGeom prst="rect">
            <a:avLst/>
          </a:prstGeom>
          <a:noFill/>
          <a:ln/>
        </p:spPr>
        <p:txBody>
          <a:bodyPr wrap="none" lIns="0" tIns="0" rIns="0" bIns="0" rtlCol="0" anchor="t">
            <a:spAutoFit/>
          </a:bodyPr>
          <a:lstStyle/>
          <a:p>
            <a:pPr algn="l" indent="0" marL="0">
              <a:lnSpc>
                <a:spcPts val="1800"/>
              </a:lnSpc>
              <a:buNone/>
            </a:pPr>
            <a:r>
              <a:rPr lang="en-US" sz="1193" b="1" dirty="0">
                <a:solidFill>
                  <a:srgbClr val="334155"/>
                </a:solidFill>
              </a:rPr>
              <a:t>No data off-device</a:t>
            </a:r>
            <a:endParaRPr lang="en-US" sz="1193" dirty="0"/>
          </a:p>
        </p:txBody>
      </p:sp>
      <p:sp>
        <p:nvSpPr>
          <p:cNvPr id="21" name="Shape 12"/>
          <p:cNvSpPr/>
          <p:nvPr/>
        </p:nvSpPr>
        <p:spPr>
          <a:xfrm>
            <a:off x="4789466" y="1535906"/>
            <a:ext cx="3783034" cy="2232422"/>
          </a:xfrm>
          <a:prstGeom prst="rect">
            <a:avLst/>
          </a:prstGeom>
          <a:solidFill>
            <a:srgbClr val="FFFFFF"/>
          </a:solidFill>
          <a:ln/>
        </p:spPr>
      </p:sp>
      <p:sp>
        <p:nvSpPr>
          <p:cNvPr id="22" name="Shape 13"/>
          <p:cNvSpPr/>
          <p:nvPr/>
        </p:nvSpPr>
        <p:spPr>
          <a:xfrm>
            <a:off x="4789466" y="1535906"/>
            <a:ext cx="28575" cy="2232422"/>
          </a:xfrm>
          <a:prstGeom prst="rect">
            <a:avLst/>
          </a:prstGeom>
          <a:solidFill>
            <a:srgbClr val="2563EB"/>
          </a:solidFill>
          <a:ln/>
        </p:spPr>
      </p:sp>
      <p:pic>
        <p:nvPicPr>
          <p:cNvPr id="23" name="Image 6" descr="preencoded.png">    </p:cNvPr>
          <p:cNvPicPr>
            <a:picLocks noChangeAspect="1"/>
          </p:cNvPicPr>
          <p:nvPr/>
        </p:nvPicPr>
        <p:blipFill>
          <a:blip r:embed="rId7"/>
          <a:stretch>
            <a:fillRect/>
          </a:stretch>
        </p:blipFill>
        <p:spPr>
          <a:xfrm>
            <a:off x="7886700" y="1707356"/>
            <a:ext cx="514350" cy="514350"/>
          </a:xfrm>
          <a:prstGeom prst="rect">
            <a:avLst/>
          </a:prstGeom>
        </p:spPr>
      </p:pic>
      <p:sp>
        <p:nvSpPr>
          <p:cNvPr id="24" name="Text 14"/>
          <p:cNvSpPr/>
          <p:nvPr/>
        </p:nvSpPr>
        <p:spPr>
          <a:xfrm>
            <a:off x="4961809" y="1707356"/>
            <a:ext cx="1841609"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0F172A"/>
                </a:solidFill>
              </a:rPr>
              <a:t>Safety Guardrails</a:t>
            </a:r>
            <a:endParaRPr lang="en-US" sz="1499" dirty="0"/>
          </a:p>
        </p:txBody>
      </p:sp>
      <p:pic>
        <p:nvPicPr>
          <p:cNvPr id="25" name="Image 7" descr="preencoded.png">    </p:cNvPr>
          <p:cNvPicPr>
            <a:picLocks noChangeAspect="1"/>
          </p:cNvPicPr>
          <p:nvPr/>
        </p:nvPicPr>
        <p:blipFill>
          <a:blip r:embed="rId8"/>
          <a:stretch>
            <a:fillRect/>
          </a:stretch>
        </p:blipFill>
        <p:spPr>
          <a:xfrm>
            <a:off x="4961809" y="2078831"/>
            <a:ext cx="1143000" cy="914400"/>
          </a:xfrm>
          <a:prstGeom prst="rect">
            <a:avLst/>
          </a:prstGeom>
        </p:spPr>
      </p:pic>
      <p:sp>
        <p:nvSpPr>
          <p:cNvPr id="26" name="Shape 15"/>
          <p:cNvSpPr/>
          <p:nvPr/>
        </p:nvSpPr>
        <p:spPr>
          <a:xfrm>
            <a:off x="6276259" y="2078831"/>
            <a:ext cx="2124791" cy="701873"/>
          </a:xfrm>
          <a:prstGeom prst="rect">
            <a:avLst/>
          </a:prstGeom>
          <a:solidFill>
            <a:srgbClr val="F8FAFC"/>
          </a:solidFill>
          <a:ln w="9144">
            <a:solidFill>
              <a:srgbClr val="E2E8F0"/>
            </a:solidFill>
            <a:prstDash val="solid"/>
          </a:ln>
        </p:spPr>
      </p:sp>
      <p:sp>
        <p:nvSpPr>
          <p:cNvPr id="27" name="Text 16"/>
          <p:cNvSpPr/>
          <p:nvPr/>
        </p:nvSpPr>
        <p:spPr>
          <a:xfrm>
            <a:off x="6390559" y="2193131"/>
            <a:ext cx="1896191"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Weight Loss Cap</a:t>
            </a:r>
            <a:endParaRPr lang="en-US" sz="683" dirty="0"/>
          </a:p>
        </p:txBody>
      </p:sp>
      <p:sp>
        <p:nvSpPr>
          <p:cNvPr id="28" name="Text 17"/>
          <p:cNvSpPr/>
          <p:nvPr/>
        </p:nvSpPr>
        <p:spPr>
          <a:xfrm>
            <a:off x="6390559" y="2364581"/>
            <a:ext cx="1896191" cy="287536"/>
          </a:xfrm>
          <a:prstGeom prst="rect">
            <a:avLst/>
          </a:prstGeom>
          <a:noFill/>
          <a:ln/>
        </p:spPr>
        <p:txBody>
          <a:bodyPr wrap="none" lIns="0" tIns="0" rIns="0" bIns="0" rtlCol="0" anchor="t">
            <a:spAutoFit/>
          </a:bodyPr>
          <a:lstStyle/>
          <a:p>
            <a:pPr algn="l" indent="0" marL="0">
              <a:lnSpc>
                <a:spcPts val="2300"/>
              </a:lnSpc>
              <a:buNone/>
            </a:pPr>
            <a:r>
              <a:rPr lang="en-US" sz="1808" b="1" dirty="0">
                <a:solidFill>
                  <a:srgbClr val="2563EB"/>
                </a:solidFill>
              </a:rPr>
              <a:t>2% </a:t>
            </a:r>
            <a:pPr algn="l" indent="0" marL="0">
              <a:lnSpc>
                <a:spcPts val="2300"/>
              </a:lnSpc>
              <a:buNone/>
            </a:pPr>
            <a:r>
              <a:rPr lang="en-US" sz="1050" dirty="0">
                <a:solidFill>
                  <a:srgbClr val="475569"/>
                </a:solidFill>
              </a:rPr>
              <a:t>/ week max</a:t>
            </a:r>
            <a:endParaRPr lang="en-US" sz="1808" dirty="0"/>
          </a:p>
        </p:txBody>
      </p:sp>
      <p:sp>
        <p:nvSpPr>
          <p:cNvPr id="29" name="Shape 18"/>
          <p:cNvSpPr/>
          <p:nvPr/>
        </p:nvSpPr>
        <p:spPr>
          <a:xfrm>
            <a:off x="6276259" y="2880717"/>
            <a:ext cx="2124791" cy="701873"/>
          </a:xfrm>
          <a:prstGeom prst="rect">
            <a:avLst/>
          </a:prstGeom>
          <a:solidFill>
            <a:srgbClr val="F8FAFC"/>
          </a:solidFill>
          <a:ln w="9144">
            <a:solidFill>
              <a:srgbClr val="E2E8F0"/>
            </a:solidFill>
            <a:prstDash val="solid"/>
          </a:ln>
        </p:spPr>
      </p:sp>
      <p:sp>
        <p:nvSpPr>
          <p:cNvPr id="30" name="Text 19"/>
          <p:cNvSpPr/>
          <p:nvPr/>
        </p:nvSpPr>
        <p:spPr>
          <a:xfrm>
            <a:off x="6390559" y="2995017"/>
            <a:ext cx="1896191"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Total Loss Cap</a:t>
            </a:r>
            <a:endParaRPr lang="en-US" sz="683" dirty="0"/>
          </a:p>
        </p:txBody>
      </p:sp>
      <p:sp>
        <p:nvSpPr>
          <p:cNvPr id="31" name="Text 20"/>
          <p:cNvSpPr/>
          <p:nvPr/>
        </p:nvSpPr>
        <p:spPr>
          <a:xfrm>
            <a:off x="6390559" y="3166467"/>
            <a:ext cx="1896191" cy="287536"/>
          </a:xfrm>
          <a:prstGeom prst="rect">
            <a:avLst/>
          </a:prstGeom>
          <a:noFill/>
          <a:ln/>
        </p:spPr>
        <p:txBody>
          <a:bodyPr wrap="none" lIns="0" tIns="0" rIns="0" bIns="0" rtlCol="0" anchor="t">
            <a:spAutoFit/>
          </a:bodyPr>
          <a:lstStyle/>
          <a:p>
            <a:pPr algn="l" indent="0" marL="0">
              <a:lnSpc>
                <a:spcPts val="2300"/>
              </a:lnSpc>
              <a:buNone/>
            </a:pPr>
            <a:r>
              <a:rPr lang="en-US" sz="1808" b="1" dirty="0">
                <a:solidFill>
                  <a:srgbClr val="2563EB"/>
                </a:solidFill>
              </a:rPr>
              <a:t>30% </a:t>
            </a:r>
            <a:pPr algn="l" indent="0" marL="0">
              <a:lnSpc>
                <a:spcPts val="2300"/>
              </a:lnSpc>
              <a:buNone/>
            </a:pPr>
            <a:r>
              <a:rPr lang="en-US" sz="1050" dirty="0">
                <a:solidFill>
                  <a:srgbClr val="475569"/>
                </a:solidFill>
              </a:rPr>
              <a:t>total</a:t>
            </a:r>
            <a:endParaRPr lang="en-US" sz="180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4748B"/>
                </a:solidFill>
              </a:rPr>
              <a:t>Product Boundaries</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SCOPE IS FROZEN</a:t>
            </a:r>
            <a:endParaRPr lang="en-US" sz="3077" dirty="0"/>
          </a:p>
        </p:txBody>
      </p:sp>
      <p:sp>
        <p:nvSpPr>
          <p:cNvPr id="6" name="Text 2"/>
          <p:cNvSpPr/>
          <p:nvPr/>
        </p:nvSpPr>
        <p:spPr>
          <a:xfrm>
            <a:off x="571500" y="1564481"/>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7" name="Text 3"/>
          <p:cNvSpPr/>
          <p:nvPr/>
        </p:nvSpPr>
        <p:spPr>
          <a:xfrm>
            <a:off x="915712" y="1535906"/>
            <a:ext cx="1496783"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User Accounts</a:t>
            </a:r>
            <a:endParaRPr lang="en-US" sz="1499" dirty="0"/>
          </a:p>
        </p:txBody>
      </p:sp>
      <p:sp>
        <p:nvSpPr>
          <p:cNvPr id="8" name="Text 4"/>
          <p:cNvSpPr/>
          <p:nvPr/>
        </p:nvSpPr>
        <p:spPr>
          <a:xfrm>
            <a:off x="571500" y="2171700"/>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9" name="Text 5"/>
          <p:cNvSpPr/>
          <p:nvPr/>
        </p:nvSpPr>
        <p:spPr>
          <a:xfrm>
            <a:off x="915712" y="2143125"/>
            <a:ext cx="1915753"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Push Notifications</a:t>
            </a:r>
            <a:endParaRPr lang="en-US" sz="1499" dirty="0"/>
          </a:p>
        </p:txBody>
      </p:sp>
      <p:sp>
        <p:nvSpPr>
          <p:cNvPr id="10" name="Text 6"/>
          <p:cNvSpPr/>
          <p:nvPr/>
        </p:nvSpPr>
        <p:spPr>
          <a:xfrm>
            <a:off x="571500" y="2778919"/>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11" name="Text 7"/>
          <p:cNvSpPr/>
          <p:nvPr/>
        </p:nvSpPr>
        <p:spPr>
          <a:xfrm>
            <a:off x="915712" y="2750344"/>
            <a:ext cx="1136721"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Cloud Sync</a:t>
            </a:r>
            <a:endParaRPr lang="en-US" sz="1499" dirty="0"/>
          </a:p>
        </p:txBody>
      </p:sp>
      <p:sp>
        <p:nvSpPr>
          <p:cNvPr id="12" name="Text 8"/>
          <p:cNvSpPr/>
          <p:nvPr/>
        </p:nvSpPr>
        <p:spPr>
          <a:xfrm>
            <a:off x="571500" y="3386138"/>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13" name="Text 9"/>
          <p:cNvSpPr/>
          <p:nvPr/>
        </p:nvSpPr>
        <p:spPr>
          <a:xfrm>
            <a:off x="915712" y="3357563"/>
            <a:ext cx="1376762"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Multiple Cats</a:t>
            </a:r>
            <a:endParaRPr lang="en-US" sz="1499" dirty="0"/>
          </a:p>
        </p:txBody>
      </p:sp>
      <p:sp>
        <p:nvSpPr>
          <p:cNvPr id="14" name="Text 10"/>
          <p:cNvSpPr/>
          <p:nvPr/>
        </p:nvSpPr>
        <p:spPr>
          <a:xfrm>
            <a:off x="4857750" y="1564481"/>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15" name="Text 11"/>
          <p:cNvSpPr/>
          <p:nvPr/>
        </p:nvSpPr>
        <p:spPr>
          <a:xfrm>
            <a:off x="5201962" y="1535906"/>
            <a:ext cx="1594284"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Vet Integration</a:t>
            </a:r>
            <a:endParaRPr lang="en-US" sz="1499" dirty="0"/>
          </a:p>
        </p:txBody>
      </p:sp>
      <p:sp>
        <p:nvSpPr>
          <p:cNvPr id="16" name="Text 12"/>
          <p:cNvSpPr/>
          <p:nvPr/>
        </p:nvSpPr>
        <p:spPr>
          <a:xfrm>
            <a:off x="4857750" y="2171700"/>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17" name="Text 13"/>
          <p:cNvSpPr/>
          <p:nvPr/>
        </p:nvSpPr>
        <p:spPr>
          <a:xfrm>
            <a:off x="5201962" y="2143125"/>
            <a:ext cx="1513498"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Food Ordering</a:t>
            </a:r>
            <a:endParaRPr lang="en-US" sz="1499" dirty="0"/>
          </a:p>
        </p:txBody>
      </p:sp>
      <p:sp>
        <p:nvSpPr>
          <p:cNvPr id="18" name="Text 14"/>
          <p:cNvSpPr/>
          <p:nvPr/>
        </p:nvSpPr>
        <p:spPr>
          <a:xfrm>
            <a:off x="4857750" y="2778919"/>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19" name="Text 15"/>
          <p:cNvSpPr/>
          <p:nvPr/>
        </p:nvSpPr>
        <p:spPr>
          <a:xfrm>
            <a:off x="5201962" y="2750344"/>
            <a:ext cx="1571346"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Social Features</a:t>
            </a:r>
            <a:endParaRPr lang="en-US" sz="1499" dirty="0"/>
          </a:p>
        </p:txBody>
      </p:sp>
      <p:sp>
        <p:nvSpPr>
          <p:cNvPr id="20" name="Text 16"/>
          <p:cNvSpPr/>
          <p:nvPr/>
        </p:nvSpPr>
        <p:spPr>
          <a:xfrm>
            <a:off x="4857750" y="3386138"/>
            <a:ext cx="229912"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94A3B8"/>
                </a:solidFill>
              </a:rPr>
              <a:t>NO</a:t>
            </a:r>
            <a:endParaRPr lang="en-US" sz="987" dirty="0"/>
          </a:p>
        </p:txBody>
      </p:sp>
      <p:sp>
        <p:nvSpPr>
          <p:cNvPr id="21" name="Text 17"/>
          <p:cNvSpPr/>
          <p:nvPr/>
        </p:nvSpPr>
        <p:spPr>
          <a:xfrm>
            <a:off x="5201962" y="3357563"/>
            <a:ext cx="850609"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334155"/>
                </a:solidFill>
              </a:rPr>
              <a:t>Widgets</a:t>
            </a:r>
            <a:endParaRPr lang="en-US" sz="1499" dirty="0"/>
          </a:p>
        </p:txBody>
      </p:sp>
      <p:sp>
        <p:nvSpPr>
          <p:cNvPr id="22" name="Shape 18"/>
          <p:cNvSpPr/>
          <p:nvPr/>
        </p:nvSpPr>
        <p:spPr>
          <a:xfrm>
            <a:off x="571500" y="4314825"/>
            <a:ext cx="8001000" cy="828675"/>
          </a:xfrm>
          <a:prstGeom prst="rect">
            <a:avLst/>
          </a:prstGeom>
          <a:solidFill>
            <a:srgbClr val="0F172A"/>
          </a:solidFill>
          <a:ln/>
        </p:spPr>
      </p:sp>
      <p:sp>
        <p:nvSpPr>
          <p:cNvPr id="23" name="Text 19"/>
          <p:cNvSpPr/>
          <p:nvPr/>
        </p:nvSpPr>
        <p:spPr>
          <a:xfrm>
            <a:off x="857250" y="4600575"/>
            <a:ext cx="7429500" cy="257175"/>
          </a:xfrm>
          <a:prstGeom prst="rect">
            <a:avLst/>
          </a:prstGeom>
          <a:noFill/>
          <a:ln/>
        </p:spPr>
        <p:txBody>
          <a:bodyPr wrap="none" lIns="0" tIns="0" rIns="0" bIns="0" rtlCol="0" anchor="t">
            <a:spAutoFit/>
          </a:bodyPr>
          <a:lstStyle/>
          <a:p>
            <a:pPr algn="ctr" indent="0" marL="0">
              <a:lnSpc>
                <a:spcPts val="2000"/>
              </a:lnSpc>
              <a:buNone/>
            </a:pPr>
            <a:r>
              <a:rPr lang="en-US" sz="1595" dirty="0">
                <a:solidFill>
                  <a:srgbClr val="FFFFFF"/>
                </a:solidFill>
              </a:rPr>
              <a:t>"This is not a roadmap. </a:t>
            </a:r>
            <a:pPr algn="ctr" indent="0" marL="0">
              <a:lnSpc>
                <a:spcPts val="2000"/>
              </a:lnSpc>
              <a:buNone/>
            </a:pPr>
            <a:r>
              <a:rPr lang="en-US" sz="1499" b="1" dirty="0">
                <a:solidFill>
                  <a:srgbClr val="60A5FA"/>
                </a:solidFill>
              </a:rPr>
              <a:t>This is a deliverable.</a:t>
            </a:r>
            <a:pPr algn="ctr" indent="0" marL="0">
              <a:lnSpc>
                <a:spcPts val="2000"/>
              </a:lnSpc>
              <a:buNone/>
            </a:pPr>
            <a:r>
              <a:rPr lang="en-US" sz="1595" dirty="0">
                <a:solidFill>
                  <a:srgbClr val="FFFFFF"/>
                </a:solidFill>
              </a:rPr>
              <a:t>"</a:t>
            </a:r>
            <a:endParaRPr lang="en-US" sz="159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457200"/>
            <a:ext cx="8001000" cy="914400"/>
          </a:xfrm>
          <a:prstGeom prst="rect">
            <a:avLst/>
          </a:prstGeom>
          <a:solidFill>
            <a:srgbClr val="000000">
              <a:alpha val="0"/>
            </a:srgbClr>
          </a:solidFill>
          <a:ln/>
        </p:spPr>
      </p:sp>
      <p:sp>
        <p:nvSpPr>
          <p:cNvPr id="5" name="Shape 1"/>
          <p:cNvSpPr/>
          <p:nvPr/>
        </p:nvSpPr>
        <p:spPr>
          <a:xfrm>
            <a:off x="571500" y="1364456"/>
            <a:ext cx="8001000" cy="7144"/>
          </a:xfrm>
          <a:prstGeom prst="rect">
            <a:avLst/>
          </a:prstGeom>
          <a:solidFill>
            <a:srgbClr val="475569"/>
          </a:solidFill>
          <a:ln/>
        </p:spPr>
      </p:sp>
      <p:sp>
        <p:nvSpPr>
          <p:cNvPr id="6" name="Text 2"/>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60A5FA"/>
                </a:solidFill>
              </a:rPr>
              <a:t>Privacy Architecture</a:t>
            </a:r>
            <a:endParaRPr lang="en-US" sz="683" dirty="0"/>
          </a:p>
        </p:txBody>
      </p:sp>
      <p:sp>
        <p:nvSpPr>
          <p:cNvPr id="7" name="Text 3"/>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FFFFFF"/>
                </a:solidFill>
              </a:rPr>
              <a:t>DATA STAYS ON DEVICE</a:t>
            </a:r>
            <a:endParaRPr lang="en-US" sz="3077" dirty="0"/>
          </a:p>
        </p:txBody>
      </p:sp>
      <p:sp>
        <p:nvSpPr>
          <p:cNvPr id="8" name="Text 4"/>
          <p:cNvSpPr/>
          <p:nvPr/>
        </p:nvSpPr>
        <p:spPr>
          <a:xfrm>
            <a:off x="571500" y="1593056"/>
            <a:ext cx="3714750" cy="228600"/>
          </a:xfrm>
          <a:prstGeom prst="rect">
            <a:avLst/>
          </a:prstGeom>
          <a:noFill/>
          <a:ln/>
        </p:spPr>
        <p:txBody>
          <a:bodyPr wrap="none" lIns="136017" tIns="0" rIns="0" bIns="0" rtlCol="0" anchor="t">
            <a:spAutoFit/>
          </a:bodyPr>
          <a:lstStyle/>
          <a:p>
            <a:pPr algn="l" indent="0" marL="0">
              <a:lnSpc>
                <a:spcPts val="1800"/>
              </a:lnSpc>
              <a:buNone/>
            </a:pPr>
            <a:r>
              <a:rPr lang="en-US" sz="1193" b="1" spc="1" kern="0" dirty="0">
                <a:solidFill>
                  <a:srgbClr val="94A3B8"/>
                </a:solidFill>
              </a:rPr>
              <a:t>Technical Implementation</a:t>
            </a:r>
            <a:endParaRPr lang="en-US" sz="1193" dirty="0"/>
          </a:p>
        </p:txBody>
      </p:sp>
      <p:sp>
        <p:nvSpPr>
          <p:cNvPr id="9" name="Shape 5"/>
          <p:cNvSpPr/>
          <p:nvPr/>
        </p:nvSpPr>
        <p:spPr>
          <a:xfrm>
            <a:off x="571500" y="2050256"/>
            <a:ext cx="342900" cy="342900"/>
          </a:xfrm>
          <a:prstGeom prst="rect">
            <a:avLst/>
          </a:prstGeom>
          <a:solidFill>
            <a:srgbClr val="334155"/>
          </a:solidFill>
          <a:ln/>
        </p:spPr>
      </p:sp>
      <p:pic>
        <p:nvPicPr>
          <p:cNvPr id="10" name="Image 1" descr="preencoded.png">    </p:cNvPr>
          <p:cNvPicPr>
            <a:picLocks noChangeAspect="1"/>
          </p:cNvPicPr>
          <p:nvPr/>
        </p:nvPicPr>
        <p:blipFill>
          <a:blip r:embed="rId2"/>
          <a:stretch>
            <a:fillRect/>
          </a:stretch>
        </p:blipFill>
        <p:spPr>
          <a:xfrm>
            <a:off x="678656" y="2107406"/>
            <a:ext cx="128588" cy="228600"/>
          </a:xfrm>
          <a:prstGeom prst="rect">
            <a:avLst/>
          </a:prstGeom>
        </p:spPr>
      </p:pic>
      <p:sp>
        <p:nvSpPr>
          <p:cNvPr id="11" name="Text 6"/>
          <p:cNvSpPr/>
          <p:nvPr/>
        </p:nvSpPr>
        <p:spPr>
          <a:xfrm>
            <a:off x="1085850" y="2050256"/>
            <a:ext cx="3185889"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Stored on iPhone</a:t>
            </a:r>
            <a:endParaRPr lang="en-US" sz="1499" dirty="0"/>
          </a:p>
        </p:txBody>
      </p:sp>
      <p:sp>
        <p:nvSpPr>
          <p:cNvPr id="12" name="Text 7"/>
          <p:cNvSpPr/>
          <p:nvPr/>
        </p:nvSpPr>
        <p:spPr>
          <a:xfrm>
            <a:off x="1085850" y="2364581"/>
            <a:ext cx="3185889"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94A3B8"/>
                </a:solidFill>
              </a:rPr>
              <a:t>Data lives exclusively in the user's local app sandbox.</a:t>
            </a:r>
            <a:endParaRPr lang="en-US" sz="942" dirty="0"/>
          </a:p>
        </p:txBody>
      </p:sp>
      <p:sp>
        <p:nvSpPr>
          <p:cNvPr id="13" name="Shape 8"/>
          <p:cNvSpPr/>
          <p:nvPr/>
        </p:nvSpPr>
        <p:spPr>
          <a:xfrm>
            <a:off x="571500" y="2793206"/>
            <a:ext cx="342900" cy="342900"/>
          </a:xfrm>
          <a:prstGeom prst="rect">
            <a:avLst/>
          </a:prstGeom>
          <a:solidFill>
            <a:srgbClr val="334155"/>
          </a:solidFill>
          <a:ln/>
        </p:spPr>
      </p:sp>
      <p:pic>
        <p:nvPicPr>
          <p:cNvPr id="14" name="Image 2" descr="preencoded.png">    </p:cNvPr>
          <p:cNvPicPr>
            <a:picLocks noChangeAspect="1"/>
          </p:cNvPicPr>
          <p:nvPr/>
        </p:nvPicPr>
        <p:blipFill>
          <a:blip r:embed="rId3"/>
          <a:stretch>
            <a:fillRect/>
          </a:stretch>
        </p:blipFill>
        <p:spPr>
          <a:xfrm>
            <a:off x="635794" y="2850356"/>
            <a:ext cx="214313" cy="228600"/>
          </a:xfrm>
          <a:prstGeom prst="rect">
            <a:avLst/>
          </a:prstGeom>
        </p:spPr>
      </p:pic>
      <p:sp>
        <p:nvSpPr>
          <p:cNvPr id="15" name="Text 9"/>
          <p:cNvSpPr/>
          <p:nvPr/>
        </p:nvSpPr>
        <p:spPr>
          <a:xfrm>
            <a:off x="1085850" y="2793206"/>
            <a:ext cx="2812098"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Never Transmitted</a:t>
            </a:r>
            <a:endParaRPr lang="en-US" sz="1499" dirty="0"/>
          </a:p>
        </p:txBody>
      </p:sp>
      <p:sp>
        <p:nvSpPr>
          <p:cNvPr id="16" name="Text 10"/>
          <p:cNvSpPr/>
          <p:nvPr/>
        </p:nvSpPr>
        <p:spPr>
          <a:xfrm>
            <a:off x="1085850" y="3107531"/>
            <a:ext cx="2812098"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94A3B8"/>
                </a:solidFill>
              </a:rPr>
              <a:t>Zero API calls to external servers for user data.</a:t>
            </a:r>
            <a:endParaRPr lang="en-US" sz="942" dirty="0"/>
          </a:p>
        </p:txBody>
      </p:sp>
      <p:sp>
        <p:nvSpPr>
          <p:cNvPr id="17" name="Shape 11"/>
          <p:cNvSpPr/>
          <p:nvPr/>
        </p:nvSpPr>
        <p:spPr>
          <a:xfrm>
            <a:off x="571500" y="3536156"/>
            <a:ext cx="342900" cy="342900"/>
          </a:xfrm>
          <a:prstGeom prst="rect">
            <a:avLst/>
          </a:prstGeom>
          <a:solidFill>
            <a:srgbClr val="334155"/>
          </a:solidFill>
          <a:ln/>
        </p:spPr>
      </p:sp>
      <p:pic>
        <p:nvPicPr>
          <p:cNvPr id="18" name="Image 3" descr="preencoded.png">    </p:cNvPr>
          <p:cNvPicPr>
            <a:picLocks noChangeAspect="1"/>
          </p:cNvPicPr>
          <p:nvPr/>
        </p:nvPicPr>
        <p:blipFill>
          <a:blip r:embed="rId4"/>
          <a:stretch>
            <a:fillRect/>
          </a:stretch>
        </p:blipFill>
        <p:spPr>
          <a:xfrm>
            <a:off x="667941" y="3593306"/>
            <a:ext cx="150019" cy="228600"/>
          </a:xfrm>
          <a:prstGeom prst="rect">
            <a:avLst/>
          </a:prstGeom>
        </p:spPr>
      </p:pic>
      <p:sp>
        <p:nvSpPr>
          <p:cNvPr id="19" name="Text 12"/>
          <p:cNvSpPr/>
          <p:nvPr/>
        </p:nvSpPr>
        <p:spPr>
          <a:xfrm>
            <a:off x="1085850" y="3536156"/>
            <a:ext cx="3200400"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90-Day Auto-Purge</a:t>
            </a:r>
            <a:endParaRPr lang="en-US" sz="1499" dirty="0"/>
          </a:p>
        </p:txBody>
      </p:sp>
      <p:sp>
        <p:nvSpPr>
          <p:cNvPr id="20" name="Text 13"/>
          <p:cNvSpPr/>
          <p:nvPr/>
        </p:nvSpPr>
        <p:spPr>
          <a:xfrm>
            <a:off x="1085850" y="3850481"/>
            <a:ext cx="3200400" cy="400050"/>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94A3B8"/>
                </a:solidFill>
              </a:rPr>
              <a:t>Old data is automatically deleted to minimize footprint.</a:t>
            </a:r>
            <a:endParaRPr lang="en-US" sz="942" dirty="0"/>
          </a:p>
        </p:txBody>
      </p:sp>
      <p:sp>
        <p:nvSpPr>
          <p:cNvPr id="21" name="Text 14"/>
          <p:cNvSpPr/>
          <p:nvPr/>
        </p:nvSpPr>
        <p:spPr>
          <a:xfrm>
            <a:off x="4857750" y="1821656"/>
            <a:ext cx="3714750" cy="228600"/>
          </a:xfrm>
          <a:prstGeom prst="rect">
            <a:avLst/>
          </a:prstGeom>
          <a:noFill/>
          <a:ln/>
        </p:spPr>
        <p:txBody>
          <a:bodyPr wrap="none" lIns="136017" tIns="0" rIns="0" bIns="0" rtlCol="0" anchor="t">
            <a:spAutoFit/>
          </a:bodyPr>
          <a:lstStyle/>
          <a:p>
            <a:pPr algn="l" indent="0" marL="0">
              <a:lnSpc>
                <a:spcPts val="1800"/>
              </a:lnSpc>
              <a:buNone/>
            </a:pPr>
            <a:r>
              <a:rPr lang="en-US" sz="1193" b="1" spc="1" kern="0" dirty="0">
                <a:solidFill>
                  <a:srgbClr val="94A3B8"/>
                </a:solidFill>
              </a:rPr>
              <a:t>Business Impact</a:t>
            </a:r>
            <a:endParaRPr lang="en-US" sz="1193" dirty="0"/>
          </a:p>
        </p:txBody>
      </p:sp>
      <p:sp>
        <p:nvSpPr>
          <p:cNvPr id="22" name="Shape 15"/>
          <p:cNvSpPr/>
          <p:nvPr/>
        </p:nvSpPr>
        <p:spPr>
          <a:xfrm>
            <a:off x="4857750" y="2278856"/>
            <a:ext cx="342900" cy="342900"/>
          </a:xfrm>
          <a:prstGeom prst="rect">
            <a:avLst/>
          </a:prstGeom>
          <a:solidFill>
            <a:srgbClr val="334155"/>
          </a:solidFill>
          <a:ln/>
        </p:spPr>
      </p:sp>
      <p:pic>
        <p:nvPicPr>
          <p:cNvPr id="23" name="Image 4" descr="preencoded.png">    </p:cNvPr>
          <p:cNvPicPr>
            <a:picLocks noChangeAspect="1"/>
          </p:cNvPicPr>
          <p:nvPr/>
        </p:nvPicPr>
        <p:blipFill>
          <a:blip r:embed="rId5"/>
          <a:stretch>
            <a:fillRect/>
          </a:stretch>
        </p:blipFill>
        <p:spPr>
          <a:xfrm>
            <a:off x="4943475" y="2336006"/>
            <a:ext cx="171450" cy="228600"/>
          </a:xfrm>
          <a:prstGeom prst="rect">
            <a:avLst/>
          </a:prstGeom>
        </p:spPr>
      </p:pic>
      <p:sp>
        <p:nvSpPr>
          <p:cNvPr id="24" name="Text 16"/>
          <p:cNvSpPr/>
          <p:nvPr/>
        </p:nvSpPr>
        <p:spPr>
          <a:xfrm>
            <a:off x="5372100" y="2278856"/>
            <a:ext cx="2595944"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No Servers</a:t>
            </a:r>
            <a:endParaRPr lang="en-US" sz="1499" dirty="0"/>
          </a:p>
        </p:txBody>
      </p:sp>
      <p:sp>
        <p:nvSpPr>
          <p:cNvPr id="25" name="Text 17"/>
          <p:cNvSpPr/>
          <p:nvPr/>
        </p:nvSpPr>
        <p:spPr>
          <a:xfrm>
            <a:off x="5372100" y="2593181"/>
            <a:ext cx="2595944"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94A3B8"/>
                </a:solidFill>
              </a:rPr>
              <a:t>Zero maintenance costs. Zero uptime SLAs.</a:t>
            </a:r>
            <a:endParaRPr lang="en-US" sz="942" dirty="0"/>
          </a:p>
        </p:txBody>
      </p:sp>
      <p:sp>
        <p:nvSpPr>
          <p:cNvPr id="26" name="Shape 18"/>
          <p:cNvSpPr/>
          <p:nvPr/>
        </p:nvSpPr>
        <p:spPr>
          <a:xfrm>
            <a:off x="4857750" y="3021806"/>
            <a:ext cx="342900" cy="342900"/>
          </a:xfrm>
          <a:prstGeom prst="rect">
            <a:avLst/>
          </a:prstGeom>
          <a:solidFill>
            <a:srgbClr val="334155"/>
          </a:solidFill>
          <a:ln/>
        </p:spPr>
      </p:sp>
      <p:pic>
        <p:nvPicPr>
          <p:cNvPr id="27" name="Image 5" descr="preencoded.png">    </p:cNvPr>
          <p:cNvPicPr>
            <a:picLocks noChangeAspect="1"/>
          </p:cNvPicPr>
          <p:nvPr/>
        </p:nvPicPr>
        <p:blipFill>
          <a:blip r:embed="rId6"/>
          <a:stretch>
            <a:fillRect/>
          </a:stretch>
        </p:blipFill>
        <p:spPr>
          <a:xfrm>
            <a:off x="4943475" y="3078956"/>
            <a:ext cx="171450" cy="228600"/>
          </a:xfrm>
          <a:prstGeom prst="rect">
            <a:avLst/>
          </a:prstGeom>
        </p:spPr>
      </p:pic>
      <p:sp>
        <p:nvSpPr>
          <p:cNvPr id="28" name="Text 19"/>
          <p:cNvSpPr/>
          <p:nvPr/>
        </p:nvSpPr>
        <p:spPr>
          <a:xfrm>
            <a:off x="5372100" y="3021806"/>
            <a:ext cx="2296855"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No Breach Risk</a:t>
            </a:r>
            <a:endParaRPr lang="en-US" sz="1499" dirty="0"/>
          </a:p>
        </p:txBody>
      </p:sp>
      <p:sp>
        <p:nvSpPr>
          <p:cNvPr id="29" name="Text 20"/>
          <p:cNvSpPr/>
          <p:nvPr/>
        </p:nvSpPr>
        <p:spPr>
          <a:xfrm>
            <a:off x="5372100" y="3336131"/>
            <a:ext cx="2296855"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94A3B8"/>
                </a:solidFill>
              </a:rPr>
              <a:t>You cannot lose data you do not have.</a:t>
            </a:r>
            <a:endParaRPr lang="en-US" sz="942" dirty="0"/>
          </a:p>
        </p:txBody>
      </p:sp>
      <p:sp>
        <p:nvSpPr>
          <p:cNvPr id="30" name="Shape 21"/>
          <p:cNvSpPr/>
          <p:nvPr/>
        </p:nvSpPr>
        <p:spPr>
          <a:xfrm>
            <a:off x="4857750" y="3764756"/>
            <a:ext cx="342900" cy="342900"/>
          </a:xfrm>
          <a:prstGeom prst="rect">
            <a:avLst/>
          </a:prstGeom>
          <a:solidFill>
            <a:srgbClr val="334155"/>
          </a:solidFill>
          <a:ln/>
        </p:spPr>
      </p:sp>
      <p:pic>
        <p:nvPicPr>
          <p:cNvPr id="31" name="Image 6" descr="preencoded.png">    </p:cNvPr>
          <p:cNvPicPr>
            <a:picLocks noChangeAspect="1"/>
          </p:cNvPicPr>
          <p:nvPr/>
        </p:nvPicPr>
        <p:blipFill>
          <a:blip r:embed="rId7"/>
          <a:stretch>
            <a:fillRect/>
          </a:stretch>
        </p:blipFill>
        <p:spPr>
          <a:xfrm>
            <a:off x="4964906" y="3821906"/>
            <a:ext cx="128588" cy="228600"/>
          </a:xfrm>
          <a:prstGeom prst="rect">
            <a:avLst/>
          </a:prstGeom>
        </p:spPr>
      </p:pic>
      <p:sp>
        <p:nvSpPr>
          <p:cNvPr id="32" name="Text 22"/>
          <p:cNvSpPr/>
          <p:nvPr/>
        </p:nvSpPr>
        <p:spPr>
          <a:xfrm>
            <a:off x="5372100" y="3764756"/>
            <a:ext cx="2894391" cy="257175"/>
          </a:xfrm>
          <a:prstGeom prst="rect">
            <a:avLst/>
          </a:prstGeom>
          <a:noFill/>
          <a:ln/>
        </p:spPr>
        <p:txBody>
          <a:bodyPr wrap="none" lIns="0" tIns="0" rIns="0" bIns="0" rtlCol="0" anchor="t">
            <a:spAutoFit/>
          </a:bodyPr>
          <a:lstStyle/>
          <a:p>
            <a:pPr algn="l" indent="0" marL="0">
              <a:lnSpc>
                <a:spcPts val="2000"/>
              </a:lnSpc>
              <a:buNone/>
            </a:pPr>
            <a:r>
              <a:rPr lang="en-US" sz="1499" b="1" dirty="0">
                <a:solidFill>
                  <a:srgbClr val="FFFFFF"/>
                </a:solidFill>
              </a:rPr>
              <a:t>No GDPR Headaches</a:t>
            </a:r>
            <a:endParaRPr lang="en-US" sz="1499" dirty="0"/>
          </a:p>
        </p:txBody>
      </p:sp>
      <p:sp>
        <p:nvSpPr>
          <p:cNvPr id="33" name="Text 23"/>
          <p:cNvSpPr/>
          <p:nvPr/>
        </p:nvSpPr>
        <p:spPr>
          <a:xfrm>
            <a:off x="5372100" y="4079081"/>
            <a:ext cx="2894391"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94A3B8"/>
                </a:solidFill>
              </a:rPr>
              <a:t>Complete immunity from data sovereignty laws.</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Packaging Copy</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THE ONE-LINER</a:t>
            </a:r>
            <a:endParaRPr lang="en-US" sz="3077" dirty="0"/>
          </a:p>
        </p:txBody>
      </p:sp>
      <p:sp>
        <p:nvSpPr>
          <p:cNvPr id="6" name="Text 2"/>
          <p:cNvSpPr/>
          <p:nvPr/>
        </p:nvSpPr>
        <p:spPr>
          <a:xfrm>
            <a:off x="285750" y="1250156"/>
            <a:ext cx="512927" cy="1428750"/>
          </a:xfrm>
          <a:prstGeom prst="rect">
            <a:avLst/>
          </a:prstGeom>
          <a:noFill/>
          <a:ln/>
        </p:spPr>
        <p:txBody>
          <a:bodyPr wrap="none" lIns="0" tIns="0" rIns="0" bIns="0" rtlCol="0" anchor="t">
            <a:spAutoFit/>
          </a:bodyPr>
          <a:lstStyle/>
          <a:p>
            <a:pPr algn="l" indent="0" marL="0">
              <a:lnSpc>
                <a:spcPts val="11300"/>
              </a:lnSpc>
              <a:buNone/>
            </a:pPr>
            <a:r>
              <a:rPr lang="en-US" sz="11025" dirty="0">
                <a:solidFill>
                  <a:srgbClr val="BFDBFE"/>
                </a:solidFill>
              </a:rPr>
              <a:t>“</a:t>
            </a:r>
            <a:endParaRPr lang="en-US" sz="11025" dirty="0"/>
          </a:p>
        </p:txBody>
      </p:sp>
      <p:sp>
        <p:nvSpPr>
          <p:cNvPr id="7" name="Text 3"/>
          <p:cNvSpPr/>
          <p:nvPr/>
        </p:nvSpPr>
        <p:spPr>
          <a:xfrm>
            <a:off x="914400" y="2089547"/>
            <a:ext cx="7315200" cy="1928813"/>
          </a:xfrm>
          <a:prstGeom prst="rect">
            <a:avLst/>
          </a:prstGeom>
          <a:noFill/>
          <a:ln/>
        </p:spPr>
        <p:txBody>
          <a:bodyPr wrap="square" lIns="0" tIns="0" rIns="0" bIns="0" rtlCol="0" anchor="t">
            <a:spAutoFit/>
          </a:bodyPr>
          <a:lstStyle/>
          <a:p>
            <a:pPr algn="ctr" indent="0" marL="0">
              <a:lnSpc>
                <a:spcPts val="5100"/>
              </a:lnSpc>
              <a:buNone/>
            </a:pPr>
            <a:r>
              <a:rPr lang="en-US" sz="3731" b="1" dirty="0">
                <a:solidFill>
                  <a:srgbClr val="0F172A"/>
                </a:solidFill>
              </a:rPr>
              <a:t>Scan this to track your cat's weight with the food you just bought.</a:t>
            </a:r>
            <a:endParaRPr lang="en-US" sz="3731" dirty="0"/>
          </a:p>
        </p:txBody>
      </p:sp>
      <p:sp>
        <p:nvSpPr>
          <p:cNvPr id="8" name="Text 4"/>
          <p:cNvSpPr/>
          <p:nvPr/>
        </p:nvSpPr>
        <p:spPr>
          <a:xfrm>
            <a:off x="8345323" y="4000500"/>
            <a:ext cx="512927" cy="1428750"/>
          </a:xfrm>
          <a:prstGeom prst="rect">
            <a:avLst/>
          </a:prstGeom>
          <a:noFill/>
          <a:ln/>
        </p:spPr>
        <p:txBody>
          <a:bodyPr wrap="none" lIns="0" tIns="0" rIns="0" bIns="0" rtlCol="0" anchor="t">
            <a:spAutoFit/>
          </a:bodyPr>
          <a:lstStyle/>
          <a:p>
            <a:pPr algn="l" indent="0" marL="0">
              <a:lnSpc>
                <a:spcPts val="11300"/>
              </a:lnSpc>
              <a:buNone/>
            </a:pPr>
            <a:r>
              <a:rPr lang="en-US" sz="11025" dirty="0">
                <a:solidFill>
                  <a:srgbClr val="BFDBFE"/>
                </a:solidFill>
              </a:rPr>
              <a:t>”</a:t>
            </a:r>
            <a:endParaRPr lang="en-US" sz="11025" dirty="0"/>
          </a:p>
        </p:txBody>
      </p:sp>
      <p:sp>
        <p:nvSpPr>
          <p:cNvPr id="9" name="Text 5"/>
          <p:cNvSpPr/>
          <p:nvPr/>
        </p:nvSpPr>
        <p:spPr>
          <a:xfrm>
            <a:off x="7928781" y="4600575"/>
            <a:ext cx="643719" cy="200025"/>
          </a:xfrm>
          <a:prstGeom prst="rect">
            <a:avLst/>
          </a:prstGeom>
          <a:noFill/>
          <a:ln/>
        </p:spPr>
        <p:txBody>
          <a:bodyPr wrap="none" lIns="0" tIns="0" rIns="0" bIns="0" rtlCol="0" anchor="t">
            <a:spAutoFit/>
          </a:bodyPr>
          <a:lstStyle/>
          <a:p>
            <a:pPr algn="l" indent="0" marL="0">
              <a:lnSpc>
                <a:spcPts val="1600"/>
              </a:lnSpc>
              <a:buNone/>
            </a:pPr>
            <a:r>
              <a:rPr lang="en-US" sz="942" dirty="0">
                <a:solidFill>
                  <a:srgbClr val="64748B"/>
                </a:solidFill>
              </a:rPr>
              <a:t>11 WORDS</a:t>
            </a:r>
            <a:endParaRPr lang="en-US" sz="94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57200"/>
            <a:ext cx="8001000" cy="142875"/>
          </a:xfrm>
          <a:prstGeom prst="rect">
            <a:avLst/>
          </a:prstGeom>
          <a:noFill/>
          <a:ln/>
        </p:spPr>
        <p:txBody>
          <a:bodyPr wrap="none" lIns="0" tIns="0" rIns="0" bIns="0" rtlCol="0" anchor="t">
            <a:spAutoFit/>
          </a:bodyPr>
          <a:lstStyle/>
          <a:p>
            <a:pPr algn="l" indent="0" marL="0">
              <a:lnSpc>
                <a:spcPts val="1100"/>
              </a:lnSpc>
              <a:buNone/>
            </a:pPr>
            <a:r>
              <a:rPr lang="en-US" sz="683" b="1" spc="1" kern="0" dirty="0">
                <a:solidFill>
                  <a:srgbClr val="2563EB"/>
                </a:solidFill>
              </a:rPr>
              <a:t>Execution Plan</a:t>
            </a:r>
            <a:endParaRPr lang="en-US" sz="683" dirty="0"/>
          </a:p>
        </p:txBody>
      </p:sp>
      <p:sp>
        <p:nvSpPr>
          <p:cNvPr id="5" name="Text 1"/>
          <p:cNvSpPr/>
          <p:nvPr/>
        </p:nvSpPr>
        <p:spPr>
          <a:xfrm>
            <a:off x="571500" y="657225"/>
            <a:ext cx="8001000" cy="535781"/>
          </a:xfrm>
          <a:prstGeom prst="rect">
            <a:avLst/>
          </a:prstGeom>
          <a:noFill/>
          <a:ln/>
        </p:spPr>
        <p:txBody>
          <a:bodyPr wrap="none" lIns="0" tIns="0" rIns="0" bIns="0" rtlCol="0" anchor="t">
            <a:spAutoFit/>
          </a:bodyPr>
          <a:lstStyle/>
          <a:p>
            <a:pPr algn="l" indent="0" marL="0">
              <a:lnSpc>
                <a:spcPts val="4200"/>
              </a:lnSpc>
              <a:buNone/>
            </a:pPr>
            <a:r>
              <a:rPr lang="en-US" sz="3077" b="1" dirty="0">
                <a:solidFill>
                  <a:srgbClr val="0F172A"/>
                </a:solidFill>
              </a:rPr>
              <a:t>NEXT STEPS</a:t>
            </a:r>
            <a:endParaRPr lang="en-US" sz="3077" dirty="0"/>
          </a:p>
        </p:txBody>
      </p:sp>
      <p:sp>
        <p:nvSpPr>
          <p:cNvPr id="6" name="Shape 2"/>
          <p:cNvSpPr/>
          <p:nvPr/>
        </p:nvSpPr>
        <p:spPr>
          <a:xfrm>
            <a:off x="571500" y="1764506"/>
            <a:ext cx="457200" cy="457200"/>
          </a:xfrm>
          <a:prstGeom prst="rect">
            <a:avLst/>
          </a:prstGeom>
          <a:solidFill>
            <a:srgbClr val="2563EB"/>
          </a:solidFill>
          <a:ln/>
        </p:spPr>
      </p:sp>
      <p:sp>
        <p:nvSpPr>
          <p:cNvPr id="7" name="Text 3"/>
          <p:cNvSpPr/>
          <p:nvPr/>
        </p:nvSpPr>
        <p:spPr>
          <a:xfrm>
            <a:off x="571500" y="1764506"/>
            <a:ext cx="457200" cy="457200"/>
          </a:xfrm>
          <a:prstGeom prst="rect">
            <a:avLst/>
          </a:prstGeom>
          <a:noFill/>
          <a:ln/>
        </p:spPr>
        <p:txBody>
          <a:bodyPr wrap="square" lIns="0" tIns="0" rIns="0" bIns="0" rtlCol="0" anchor="ctr">
            <a:spAutoFit/>
          </a:bodyPr>
          <a:lstStyle/>
          <a:p>
            <a:pPr algn="ctr" indent="0" marL="0">
              <a:lnSpc>
                <a:spcPts val="1800"/>
              </a:lnSpc>
              <a:buNone/>
            </a:pPr>
            <a:r>
              <a:rPr lang="en-US" sz="1193" b="1" dirty="0">
                <a:solidFill>
                  <a:srgbClr val="FFFFFF"/>
                </a:solidFill>
              </a:rPr>
              <a:t>01</a:t>
            </a:r>
            <a:endParaRPr lang="en-US" sz="1193" dirty="0"/>
          </a:p>
        </p:txBody>
      </p:sp>
      <p:sp>
        <p:nvSpPr>
          <p:cNvPr id="8" name="Text 4"/>
          <p:cNvSpPr/>
          <p:nvPr/>
        </p:nvSpPr>
        <p:spPr>
          <a:xfrm>
            <a:off x="571500" y="2393156"/>
            <a:ext cx="13716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0F172A"/>
                </a:solidFill>
              </a:rPr>
              <a:t>Legal Review</a:t>
            </a:r>
            <a:endParaRPr lang="en-US" sz="987" dirty="0"/>
          </a:p>
        </p:txBody>
      </p:sp>
      <p:sp>
        <p:nvSpPr>
          <p:cNvPr id="9" name="Text 5"/>
          <p:cNvSpPr/>
          <p:nvPr/>
        </p:nvSpPr>
        <p:spPr>
          <a:xfrm>
            <a:off x="571500" y="2650331"/>
            <a:ext cx="1371600" cy="32504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64748B"/>
                </a:solidFill>
              </a:rPr>
              <a:t>Your team validates our liability architecture.</a:t>
            </a:r>
            <a:endParaRPr lang="en-US" sz="727" dirty="0"/>
          </a:p>
        </p:txBody>
      </p:sp>
      <p:sp>
        <p:nvSpPr>
          <p:cNvPr id="10" name="Shape 6"/>
          <p:cNvSpPr/>
          <p:nvPr/>
        </p:nvSpPr>
        <p:spPr>
          <a:xfrm>
            <a:off x="2228850" y="1764506"/>
            <a:ext cx="457200" cy="457200"/>
          </a:xfrm>
          <a:prstGeom prst="rect">
            <a:avLst/>
          </a:prstGeom>
          <a:solidFill>
            <a:srgbClr val="FFFFFF"/>
          </a:solidFill>
          <a:ln w="18288">
            <a:solidFill>
              <a:srgbClr val="CBD5E1"/>
            </a:solidFill>
            <a:prstDash val="solid"/>
          </a:ln>
        </p:spPr>
      </p:sp>
      <p:sp>
        <p:nvSpPr>
          <p:cNvPr id="11" name="Text 7"/>
          <p:cNvSpPr/>
          <p:nvPr/>
        </p:nvSpPr>
        <p:spPr>
          <a:xfrm>
            <a:off x="2228850" y="1764506"/>
            <a:ext cx="457200" cy="457200"/>
          </a:xfrm>
          <a:prstGeom prst="rect">
            <a:avLst/>
          </a:prstGeom>
          <a:noFill/>
          <a:ln/>
        </p:spPr>
        <p:txBody>
          <a:bodyPr wrap="square" lIns="0" tIns="0" rIns="0" bIns="0" rtlCol="0" anchor="ctr">
            <a:spAutoFit/>
          </a:bodyPr>
          <a:lstStyle/>
          <a:p>
            <a:pPr algn="ctr" indent="0" marL="0">
              <a:lnSpc>
                <a:spcPts val="1800"/>
              </a:lnSpc>
              <a:buNone/>
            </a:pPr>
            <a:r>
              <a:rPr lang="en-US" sz="1193" b="1" dirty="0">
                <a:solidFill>
                  <a:srgbClr val="94A3B8"/>
                </a:solidFill>
              </a:rPr>
              <a:t>02</a:t>
            </a:r>
            <a:endParaRPr lang="en-US" sz="1193" dirty="0"/>
          </a:p>
        </p:txBody>
      </p:sp>
      <p:sp>
        <p:nvSpPr>
          <p:cNvPr id="12" name="Text 8"/>
          <p:cNvSpPr/>
          <p:nvPr/>
        </p:nvSpPr>
        <p:spPr>
          <a:xfrm>
            <a:off x="2228850" y="2393156"/>
            <a:ext cx="13716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0F172A"/>
                </a:solidFill>
              </a:rPr>
              <a:t>Brand Setup</a:t>
            </a:r>
            <a:endParaRPr lang="en-US" sz="987" dirty="0"/>
          </a:p>
        </p:txBody>
      </p:sp>
      <p:sp>
        <p:nvSpPr>
          <p:cNvPr id="13" name="Text 9"/>
          <p:cNvSpPr/>
          <p:nvPr/>
        </p:nvSpPr>
        <p:spPr>
          <a:xfrm>
            <a:off x="2228850" y="2650331"/>
            <a:ext cx="1371600" cy="32504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64748B"/>
                </a:solidFill>
              </a:rPr>
              <a:t>Integration of colors, logos, and product calorie data.</a:t>
            </a:r>
            <a:endParaRPr lang="en-US" sz="727" dirty="0"/>
          </a:p>
        </p:txBody>
      </p:sp>
      <p:sp>
        <p:nvSpPr>
          <p:cNvPr id="14" name="Shape 10"/>
          <p:cNvSpPr/>
          <p:nvPr/>
        </p:nvSpPr>
        <p:spPr>
          <a:xfrm>
            <a:off x="3886200" y="1764506"/>
            <a:ext cx="457200" cy="457200"/>
          </a:xfrm>
          <a:prstGeom prst="rect">
            <a:avLst/>
          </a:prstGeom>
          <a:solidFill>
            <a:srgbClr val="FFFFFF"/>
          </a:solidFill>
          <a:ln w="18288">
            <a:solidFill>
              <a:srgbClr val="CBD5E1"/>
            </a:solidFill>
            <a:prstDash val="solid"/>
          </a:ln>
        </p:spPr>
      </p:sp>
      <p:sp>
        <p:nvSpPr>
          <p:cNvPr id="15" name="Text 11"/>
          <p:cNvSpPr/>
          <p:nvPr/>
        </p:nvSpPr>
        <p:spPr>
          <a:xfrm>
            <a:off x="3886200" y="1764506"/>
            <a:ext cx="457200" cy="457200"/>
          </a:xfrm>
          <a:prstGeom prst="rect">
            <a:avLst/>
          </a:prstGeom>
          <a:noFill/>
          <a:ln/>
        </p:spPr>
        <p:txBody>
          <a:bodyPr wrap="square" lIns="0" tIns="0" rIns="0" bIns="0" rtlCol="0" anchor="ctr">
            <a:spAutoFit/>
          </a:bodyPr>
          <a:lstStyle/>
          <a:p>
            <a:pPr algn="ctr" indent="0" marL="0">
              <a:lnSpc>
                <a:spcPts val="1800"/>
              </a:lnSpc>
              <a:buNone/>
            </a:pPr>
            <a:r>
              <a:rPr lang="en-US" sz="1193" b="1" dirty="0">
                <a:solidFill>
                  <a:srgbClr val="94A3B8"/>
                </a:solidFill>
              </a:rPr>
              <a:t>03</a:t>
            </a:r>
            <a:endParaRPr lang="en-US" sz="1193" dirty="0"/>
          </a:p>
        </p:txBody>
      </p:sp>
      <p:sp>
        <p:nvSpPr>
          <p:cNvPr id="16" name="Text 12"/>
          <p:cNvSpPr/>
          <p:nvPr/>
        </p:nvSpPr>
        <p:spPr>
          <a:xfrm>
            <a:off x="3886200" y="2393156"/>
            <a:ext cx="13716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0F172A"/>
                </a:solidFill>
              </a:rPr>
              <a:t>QR Generation</a:t>
            </a:r>
            <a:endParaRPr lang="en-US" sz="987" dirty="0"/>
          </a:p>
        </p:txBody>
      </p:sp>
      <p:sp>
        <p:nvSpPr>
          <p:cNvPr id="17" name="Text 13"/>
          <p:cNvSpPr/>
          <p:nvPr/>
        </p:nvSpPr>
        <p:spPr>
          <a:xfrm>
            <a:off x="3886200" y="2650331"/>
            <a:ext cx="1371600" cy="32504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64748B"/>
                </a:solidFill>
              </a:rPr>
              <a:t>Creation of unique tracking codes for your SKUs.</a:t>
            </a:r>
            <a:endParaRPr lang="en-US" sz="727" dirty="0"/>
          </a:p>
        </p:txBody>
      </p:sp>
      <p:sp>
        <p:nvSpPr>
          <p:cNvPr id="18" name="Shape 14"/>
          <p:cNvSpPr/>
          <p:nvPr/>
        </p:nvSpPr>
        <p:spPr>
          <a:xfrm>
            <a:off x="5543550" y="1764506"/>
            <a:ext cx="457200" cy="457200"/>
          </a:xfrm>
          <a:prstGeom prst="rect">
            <a:avLst/>
          </a:prstGeom>
          <a:solidFill>
            <a:srgbClr val="FFFFFF"/>
          </a:solidFill>
          <a:ln w="18288">
            <a:solidFill>
              <a:srgbClr val="CBD5E1"/>
            </a:solidFill>
            <a:prstDash val="solid"/>
          </a:ln>
        </p:spPr>
      </p:sp>
      <p:sp>
        <p:nvSpPr>
          <p:cNvPr id="19" name="Text 15"/>
          <p:cNvSpPr/>
          <p:nvPr/>
        </p:nvSpPr>
        <p:spPr>
          <a:xfrm>
            <a:off x="5543550" y="1764506"/>
            <a:ext cx="457200" cy="457200"/>
          </a:xfrm>
          <a:prstGeom prst="rect">
            <a:avLst/>
          </a:prstGeom>
          <a:noFill/>
          <a:ln/>
        </p:spPr>
        <p:txBody>
          <a:bodyPr wrap="square" lIns="0" tIns="0" rIns="0" bIns="0" rtlCol="0" anchor="ctr">
            <a:spAutoFit/>
          </a:bodyPr>
          <a:lstStyle/>
          <a:p>
            <a:pPr algn="ctr" indent="0" marL="0">
              <a:lnSpc>
                <a:spcPts val="1800"/>
              </a:lnSpc>
              <a:buNone/>
            </a:pPr>
            <a:r>
              <a:rPr lang="en-US" sz="1193" b="1" dirty="0">
                <a:solidFill>
                  <a:srgbClr val="94A3B8"/>
                </a:solidFill>
              </a:rPr>
              <a:t>04</a:t>
            </a:r>
            <a:endParaRPr lang="en-US" sz="1193" dirty="0"/>
          </a:p>
        </p:txBody>
      </p:sp>
      <p:sp>
        <p:nvSpPr>
          <p:cNvPr id="20" name="Text 16"/>
          <p:cNvSpPr/>
          <p:nvPr/>
        </p:nvSpPr>
        <p:spPr>
          <a:xfrm>
            <a:off x="5543550" y="2393156"/>
            <a:ext cx="13716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0F172A"/>
                </a:solidFill>
              </a:rPr>
              <a:t>Pilot</a:t>
            </a:r>
            <a:endParaRPr lang="en-US" sz="987" dirty="0"/>
          </a:p>
        </p:txBody>
      </p:sp>
      <p:sp>
        <p:nvSpPr>
          <p:cNvPr id="21" name="Text 17"/>
          <p:cNvSpPr/>
          <p:nvPr/>
        </p:nvSpPr>
        <p:spPr>
          <a:xfrm>
            <a:off x="5543550" y="2650331"/>
            <a:ext cx="1371600" cy="48756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64748B"/>
                </a:solidFill>
              </a:rPr>
              <a:t>Limited market test to validate engagement metrics.</a:t>
            </a:r>
            <a:endParaRPr lang="en-US" sz="727" dirty="0"/>
          </a:p>
        </p:txBody>
      </p:sp>
      <p:sp>
        <p:nvSpPr>
          <p:cNvPr id="22" name="Shape 18"/>
          <p:cNvSpPr/>
          <p:nvPr/>
        </p:nvSpPr>
        <p:spPr>
          <a:xfrm>
            <a:off x="7200900" y="1764506"/>
            <a:ext cx="457200" cy="457200"/>
          </a:xfrm>
          <a:prstGeom prst="rect">
            <a:avLst/>
          </a:prstGeom>
          <a:solidFill>
            <a:srgbClr val="FFFFFF"/>
          </a:solidFill>
          <a:ln w="18288">
            <a:solidFill>
              <a:srgbClr val="CBD5E1"/>
            </a:solidFill>
            <a:prstDash val="solid"/>
          </a:ln>
        </p:spPr>
      </p:sp>
      <p:sp>
        <p:nvSpPr>
          <p:cNvPr id="23" name="Text 19"/>
          <p:cNvSpPr/>
          <p:nvPr/>
        </p:nvSpPr>
        <p:spPr>
          <a:xfrm>
            <a:off x="7200900" y="1764506"/>
            <a:ext cx="457200" cy="457200"/>
          </a:xfrm>
          <a:prstGeom prst="rect">
            <a:avLst/>
          </a:prstGeom>
          <a:noFill/>
          <a:ln/>
        </p:spPr>
        <p:txBody>
          <a:bodyPr wrap="square" lIns="0" tIns="0" rIns="0" bIns="0" rtlCol="0" anchor="ctr">
            <a:spAutoFit/>
          </a:bodyPr>
          <a:lstStyle/>
          <a:p>
            <a:pPr algn="ctr" indent="0" marL="0">
              <a:lnSpc>
                <a:spcPts val="1800"/>
              </a:lnSpc>
              <a:buNone/>
            </a:pPr>
            <a:r>
              <a:rPr lang="en-US" sz="1193" b="1" dirty="0">
                <a:solidFill>
                  <a:srgbClr val="94A3B8"/>
                </a:solidFill>
              </a:rPr>
              <a:t>05</a:t>
            </a:r>
            <a:endParaRPr lang="en-US" sz="1193" dirty="0"/>
          </a:p>
        </p:txBody>
      </p:sp>
      <p:sp>
        <p:nvSpPr>
          <p:cNvPr id="24" name="Text 20"/>
          <p:cNvSpPr/>
          <p:nvPr/>
        </p:nvSpPr>
        <p:spPr>
          <a:xfrm>
            <a:off x="7200900" y="2393156"/>
            <a:ext cx="1371600"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0F172A"/>
                </a:solidFill>
              </a:rPr>
              <a:t>Rollout</a:t>
            </a:r>
            <a:endParaRPr lang="en-US" sz="987" dirty="0"/>
          </a:p>
        </p:txBody>
      </p:sp>
      <p:sp>
        <p:nvSpPr>
          <p:cNvPr id="25" name="Text 21"/>
          <p:cNvSpPr/>
          <p:nvPr/>
        </p:nvSpPr>
        <p:spPr>
          <a:xfrm>
            <a:off x="7200900" y="2650331"/>
            <a:ext cx="1371600" cy="325041"/>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64748B"/>
                </a:solidFill>
              </a:rPr>
              <a:t>Full deployment across all product lines.</a:t>
            </a:r>
            <a:endParaRPr lang="en-US" sz="727" dirty="0"/>
          </a:p>
        </p:txBody>
      </p:sp>
      <p:sp>
        <p:nvSpPr>
          <p:cNvPr id="26" name="Shape 22"/>
          <p:cNvSpPr/>
          <p:nvPr/>
        </p:nvSpPr>
        <p:spPr>
          <a:xfrm>
            <a:off x="571500" y="3823692"/>
            <a:ext cx="8001000" cy="464344"/>
          </a:xfrm>
          <a:prstGeom prst="rect">
            <a:avLst/>
          </a:prstGeom>
          <a:solidFill>
            <a:srgbClr val="000000">
              <a:alpha val="0"/>
            </a:srgbClr>
          </a:solidFill>
          <a:ln/>
        </p:spPr>
      </p:sp>
      <p:sp>
        <p:nvSpPr>
          <p:cNvPr id="27" name="Shape 23"/>
          <p:cNvSpPr/>
          <p:nvPr/>
        </p:nvSpPr>
        <p:spPr>
          <a:xfrm>
            <a:off x="571500" y="3823692"/>
            <a:ext cx="8001000" cy="7144"/>
          </a:xfrm>
          <a:prstGeom prst="rect">
            <a:avLst/>
          </a:prstGeom>
          <a:solidFill>
            <a:srgbClr val="CBD5E1"/>
          </a:solidFill>
          <a:ln/>
        </p:spPr>
      </p:sp>
      <p:pic>
        <p:nvPicPr>
          <p:cNvPr id="28" name="Image 1" descr="preencoded.png">    </p:cNvPr>
          <p:cNvPicPr>
            <a:picLocks noChangeAspect="1"/>
          </p:cNvPicPr>
          <p:nvPr/>
        </p:nvPicPr>
        <p:blipFill>
          <a:blip r:embed="rId2"/>
          <a:stretch>
            <a:fillRect/>
          </a:stretch>
        </p:blipFill>
        <p:spPr>
          <a:xfrm>
            <a:off x="571500" y="4052292"/>
            <a:ext cx="171450" cy="228600"/>
          </a:xfrm>
          <a:prstGeom prst="rect">
            <a:avLst/>
          </a:prstGeom>
        </p:spPr>
      </p:pic>
      <p:sp>
        <p:nvSpPr>
          <p:cNvPr id="29" name="Text 24"/>
          <p:cNvSpPr/>
          <p:nvPr/>
        </p:nvSpPr>
        <p:spPr>
          <a:xfrm>
            <a:off x="857250" y="4066580"/>
            <a:ext cx="1941035" cy="200025"/>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64748B"/>
                </a:solidFill>
              </a:rPr>
              <a:t>Estimated Timeline: 8-12 Weeks</a:t>
            </a:r>
            <a:endParaRPr lang="en-US" sz="885" dirty="0"/>
          </a:p>
        </p:txBody>
      </p:sp>
      <p:sp>
        <p:nvSpPr>
          <p:cNvPr id="30" name="Text 25"/>
          <p:cNvSpPr/>
          <p:nvPr/>
        </p:nvSpPr>
        <p:spPr>
          <a:xfrm>
            <a:off x="7314391" y="4052292"/>
            <a:ext cx="1258109" cy="228600"/>
          </a:xfrm>
          <a:prstGeom prst="rect">
            <a:avLst/>
          </a:prstGeom>
          <a:noFill/>
          <a:ln/>
        </p:spPr>
        <p:txBody>
          <a:bodyPr wrap="none" lIns="0" tIns="0" rIns="0" bIns="0" rtlCol="0" anchor="t">
            <a:spAutoFit/>
          </a:bodyPr>
          <a:lstStyle/>
          <a:p>
            <a:pPr algn="r" indent="0" marL="0">
              <a:lnSpc>
                <a:spcPts val="1800"/>
              </a:lnSpc>
              <a:buNone/>
            </a:pPr>
            <a:r>
              <a:rPr lang="en-US" sz="1193" b="1" dirty="0">
                <a:solidFill>
                  <a:srgbClr val="2563EB"/>
                </a:solidFill>
              </a:rPr>
              <a:t>Ready to start.</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2026-01-10T17:30:47Z</dcterms:created>
  <dcterms:modified xsi:type="dcterms:W3CDTF">2026-01-10T17:30:47Z</dcterms:modified>
</cp:coreProperties>
</file>